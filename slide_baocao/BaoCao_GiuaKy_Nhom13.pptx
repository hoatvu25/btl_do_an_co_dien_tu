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389120"/>
          </a:xfrm>
          <a:prstGeom prst="rect">
            <a:avLst/>
          </a:prstGeom>
          <a:solidFill>
            <a:srgbClr val="3CA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200" b="1">
                <a:solidFill>
                  <a:srgbClr val="B4D2F5"/>
                </a:solidFill>
              </a:defRPr>
            </a:pPr>
            <a:r>
              <a:t>TRƯỜNG ĐẠI HỌC CÔNG NGHỆ – ĐHQGHN  |  KHOA CƠ HỌC KỸ THUẬT VÀ TỰ ĐỘNG HÓA</a:t>
            </a:r>
          </a:p>
          <a:p>
            <a:pPr>
              <a:spcAft>
                <a:spcPts val="1200"/>
              </a:spcAft>
              <a:defRPr sz="1600" b="1">
                <a:solidFill>
                  <a:srgbClr val="FFC850"/>
                </a:solidFill>
              </a:defRPr>
            </a:pPr>
            <a:r>
              <a:t>BÁO CÁO TIẾN ĐỘ GIỮA KỲ — ĐỒ ÁN CƠ ĐIỆN TỬ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THIẾT KẾ MÔ HÌNH HỆ THỐNG CỬA BẢO MẬT ĐA PHƯƠNG THỨC XÁC THỰC</a:t>
            </a:r>
          </a:p>
          <a:p>
            <a:pPr>
              <a:spcAft>
                <a:spcPts val="3600"/>
              </a:spcAft>
              <a:defRPr sz="1700">
                <a:solidFill>
                  <a:srgbClr val="DCEBFF"/>
                </a:solidFill>
              </a:defRPr>
            </a:pPr>
            <a:r>
              <a:t>Tích hợp Sinh trắc học Vân tay AS608, Thẻ từ RFID RC522, Keypad 4x4 &amp; Giám sát Web App ESP32</a:t>
            </a:r>
          </a:p>
          <a:p>
            <a:pPr>
              <a:defRPr sz="1350">
                <a:solidFill>
                  <a:srgbClr val="C8DCF5"/>
                </a:solidFill>
              </a:defRPr>
            </a:pPr>
            <a:r>
              <a:t>Nhóm thực hiện: Nhóm 13</a:t>
            </a:r>
            <a:br/>
            <a:r>
              <a:t>•  Nguyễn Tuấn Sơn  —  Phần mềm nhúng ESP32, Giao diện Web App &amp; Báo cáo kỹ thuật</a:t>
            </a:r>
            <a:br/>
            <a:r>
              <a:t>•  Vũ Hữu Hoạt        —  Thiết kế phần cứng, Vẽ mạch in PCB &amp; Mô hình Cơ khí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1. Tổng quan đề tài &amp; Mục tiêu nghiên cứu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Đặt vấn đề thực tế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Lý do lựa chọn đề tài nghiên cứu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Hệ thống khóa cơ học truyền thống tiềm ẩn nguy cơ sao chép chìa khóa và thiếu hoàn toàn khả năng ghi vết nhật ký ra vào.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Các hệ thống cửa chỉ dùng 1 phương thức (chỉ thẻ hoặc chỉ mật mã) dễ gặp rủi ro khi rơi thẻ, lộ mật mã hoặc ngón tay bị trầy xước.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Giải pháp đề xuất: Xây dựng hệ thống bảo mật đa phương thức tại chỗ (Local Authentication) kết hợp đồng bộ Web App thời gian thực qua mạng Wi-Fi cục bộ.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Mục tiêu kỹ thuật cốt lõi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Chỉ tiêu kỹ thuật cần đạt được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Tích hợp đồng bộ 3 phương thức xác thực: Vân tay quang học (AS608), Thẻ từ RFID (RC522) và Bàn phím ma trận 4x4.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Linh hoạt 2 cấp độ bảo mật: Chế độ 1 lớp (mở nhanh) và chế độ 2 lớp (2FA: Vân tay + PIN, Thẻ + PIN, Vân tay + Thẻ).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Thiết kế mạch in PCB 2 lớp: Tối ưu chống nhiễu nguồn và tích hợp mạch điều khiển kích khóa chốt 12V an toàn.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Nhúng Web App quản lý trực tiếp lên ESP32: Không cần máy chủ trung gian, cập nhật trạng thái cửa và nhật ký dưới 100ms qua WebSocket.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2. Cấu trúc tổng thể hệ thống (System Architecture)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Khối Thu thập &amp; Xác thực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Thiết bị ngoại vi tại cửa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Cảm biến vân tay quang học AS608: Giao tiếp UART TTL (57600 bps), lưu 127 vân tay.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Đầu đọc thẻ RFID RC522: Tần số 13.56 MHz, giao tiếp bus SPI, đọc thẻ S50 và móc khóa NFC.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Bàn phím ma trận cơ 4x4: Quét ma trận 4 hàng x 4 cột (8 GPIO), hỗ trợ phím chức năng A, B, C, D, *, #.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Khối Xử lý &amp; Phản hồi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Xử lý trung tâm &amp; Chấp hành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Vi điều khiển trung tâm ESP32: Dual-core 240 MHz, xử lý State Machine không chặn (Non-blocking).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Màn hình LCD 16x2 (I2C 0x27): Hiển thị phản hồi tức thì cho người dùng tại cửa.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Cơ cấu chấp hành Khóa chốt 12V: Kích mở qua Relay/MOSFET kèm Diode 1N4007 dập xung ngược.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3756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45920"/>
            <a:ext cx="2880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Khối Giám sát &amp; Quản trị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Mạng &amp; Ứng dụng điều khiển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Web Server &amp; WebSocket Server: Nhúng trực tiếp trong Flash LittleFS của ESP32.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Tên miền nội bộ mDNS (smartdoor.local): Truy cập nhanh không cần nhớ địa chỉ IP.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Đám mây demo Vercel: Triển khai giao diện trực tuyến phục vụ kiểm thử và báo cáo từ xa.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3. Khảo sát linh kiện &amp; Phân tích Datasheet chi tiết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Cảm biến vân tay quang học AS608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Điện áp cấp: 3.3V – 5.0V DC; Dòng đỉnh: &lt; 120 mA.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Giao tiếp: UART TTL (baudrate 57600 bps mặc định).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Độ phân giải: 500 DPI, thời gian đối sánh mẫu: &lt; 1.0 giây.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Module đọc thẻ từ RFID-RC522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Điện áp hoạt động: 3.3V DC (Tuyệt đối không cấp 5V gây hỏng chip).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Tần số sóng mang: 13.56 MHz; Chuẩn giao tiếp: SPI tốc độ cao.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Dòng tiêu thụ: 13 – 26 mA; Khoảng cách đọc: 0 – 30 mm.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Bàn phím ma trận 4x4 &amp; LCD I2C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Keypad 4x4: 16 phím cơ độ nảy cao, chống bụi bẩn, 8 chân hàng-cột.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Màn hình LCD 16x2 + Ba lô PCF8574: Tiết kiệm từ 16 chân còn 2 chân I2C.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Điện áp cấp LCD: 5V DC đảm bảo độ tương phản rõ nét.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60519"/>
            <a:ext cx="475488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Vi điều khiển ESP32 &amp; Khóa chốt 12V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ESP32-WROOM-32: Bộ nhớ Flash 4MB, tích hợp Wi-Fi 2.4GHz &amp; Bluetooth.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Khóa chốt điện từ 12V: Dòng kích cuộn dây 0.8A – 1.0A (Fail-Secure).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Bảo vệ quá áp: Sử dụng Diode dập xung ngược 1N4007 song song cuộn hút.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4. Quy hoạch sơ đồ chân ESP32 &amp; Giải pháp chống nhiễu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Bảng phân bổ chân GPIO trên ESP32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Tránh xung đột chân Bootloader &amp; Strapping Pins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Cảm biến AS608: RX2 -&gt; GPIO 16, TX2 -&gt; GPIO 17 (HardwareSerial2 độc lập).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RFID RC522 (SPI): SS -&gt; GPIO 5, SCK -&gt; GPIO 18, MOSI -&gt; GPIO 23, MISO -&gt; GPIO 19, RST -&gt; GPIO 4.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Màn hình LCD 16x2: SDA -&gt; GPIO 21, SCL -&gt; GPIO 22 (Chuẩn I2C mặc định).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Khóa chốt điện 12V: Kích mở qua GPIO 2 (Logic HIGH kích mở).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Bàn phím ma trận 4x4 (8 chân GPIO):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Hàng R1 – R4: GPIO 13, 12, 14, 27 (cấu hình INPUT_PULLUP)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Cột C1 – C4: GPIO 26, 25, 33, 32 (quét mức LOW tuần tự)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Nguyên tắc: Không sử dụng các chân GPIO 34-39 (chỉ đọc) và các chân Strapping (GPIO 0, 15) để tránh lỗi khởi động nạp firmware.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645920"/>
            <a:ext cx="40233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Giải pháp thiết kế chống xung nhiễu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Đảm bảo hệ thống hoạt động ổn định 24/7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Tách tầng nguồn công suất &amp; vi điều khiển: Nguồn tổng 12V cấp khóa chốt; hạ áp 5V cấp ESP32/LCD; hạ áp 3.3V cấp riêng cho RC522.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Xử lý sụt áp cuộn cảm: Bố trí tụ hóa 470uF và tụ gốm 100nF lọc nguồn tức thời khi khóa 12V đóng ngắt.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Dập xung điện áp ngược cảm ứng: Mắc Diode 1N4007 song song ngược cực với khóa 12V để triệt tiêu điện áp e = -L(di/dt).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Cách ly quang: Sử dụng Optocoupler kích Relay/MOSFET giúp vi điều khiển ESP32 không bị reset khi tải cảm hoạt động.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5. Tiến độ thiết kế mạch in PCB (Phụ trách: Vũ Hữu Hoạt)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Kết quả thiết kế Schematic &amp; Layout PCB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Tối ưu kích thước &amp; Khả năng tản nhiệt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Đo đạc chính xác kích thước chân cắm (Footprint): Đo khoảng cách header 6 chân của AS608, 8 chân RC522, 8 chân Keypad 4x4 và cọc đấu dây Domino 12V.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Hoàn thiện bản vẽ nguyên lý (Schematic): Kết nối đầy đủ các khối chức năng, tích hợp IC hạ áp nguồn, tụ lọc và transistor công suất.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Vẽ Layout mạch in 2 lớp (Double-layer PCB):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Đường mạch công suất cấp khóa 12V được thiết kế bản rộng (&gt; 40 mil), chịu dòng tức thời đến 2A an toàn.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Phủ mass toàn bộ 2 mặt (GND Copper Pouring) để triệt tiêu nhiễu cao tần phát sinh từ module Wi-Fi và sóng RFID 13.56 MHz.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Các đường tín hiệu SPI và UART đi song song khoảng cách hợp lý, giảm tối đa hiện tượng xuyên âm (Crosstalk).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Trạng thái phần cứng &amp; Kế hoạch chế tạo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Sẵn sàng cho giai đoạn lắp ráp hoàn thiện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Trạng thái linh kiện: 100% linh kiện đã được mua đủ và kiểm tra thông mạch (AS608, RC522, Keypad 4x4, LCD I2C, ESP32, Khóa 12V).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Trạng thái PCB: Đã hoàn tất kiểm tra quy tắc thiết kế (DRC) và xuất trọn bộ file Gerber gia công.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Kế hoạch triển khai sau giữa kỳ: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Nhận mạch in PCB gia công từ nhà máy.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Hàn gắn linh kiện, đo kiểm tra điện áp các điểm test point (12V, 5V, 3.3V).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Gia công cơ khí khung mô hình cửa gỗ/mica, gá lắp khóa chốt và cảm biến.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6. Xây dựng phần mềm nhúng ESP32 (Phụ trách: Nguyễn Tuấn Sơn)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Kiến trúc lập trình Non-blocking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Đảm bảo hệ thống phản hồi mượt mà không treo đơ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Loại bỏ hoàn toàn hàm chặn delay(): Sử dụng kỹ thuật định thời millis() và máy trạng thái hữu hạn (Finite State Machine).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Phân phối chu kỳ quét cảm biến hợp lý: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Quét ma trận Keypad 4x4: Thực thi liên tục theo từng chu kỳ vòng lặp, độ trễ nhận phím &lt; 5ms.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Quét RFID và Vân tay AS608: Thực thi theo chu kỳ định thời 80ms, tránh nghẽn CPU.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Đếm ngược đóng cửa tự động: Xử lý chạy nền song song với việc giữ kết nối WebSocket.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Quản lý bộ nhớ Flash LittleFS &amp; Kết nối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Lưu trữ bền vững &amp; Truy cập tiện lợi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Phân vùng Flash LittleFS: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Lưu trữ toàn bộ mã nguồn Web App tĩnh (HTML, CSS, JS) nén trực tiếp vào Flash.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Quản lý cơ sở dữ liệu dạng JSON (config.json) lưu mật khẩu PIN, danh sách UID thẻ và ID vân tay.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Bảo toàn dữ liệu khi mất điện: Mọi thay đổi cấu hình từ Web App hoặc Keypad được ghi trực tiếp vào LittleFS, khởi động lại không bị mất.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Tên miền nội bộ mDNS (smartdoor.local): Người dùng chỉ cần gõ http://smartdoor.local là mở Web App ngay trong mạng Wi-Fi.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7. Cơ chế bảo mật đa cấp độ (Xác thực 1 lớp &amp; 2FA)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Chế độ Xác thực 1 lớp (Single Auth)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Tối ưu sự tiện lợi &amp; Tốc độ mở cửa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Nguyên lý vận hành: Người dùng chỉ cần xác thực thành công 1 trong 3 phương thức là cửa mở ngay lập tức.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Phương thức hỗ trợ: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Quét Vân tay AS608 hợp lệ (khớp mẫu trong bộ nhớ ID 1–127).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Quẹt Thẻ từ RFID RC522 hợp lệ (khớp mã UID trong cơ sở dữ liệu).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Nhập đúng mã PIN trên Bàn phím ma trận 4x4 rồi nhấn phím # hoặc D.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Ứng dụng: Phù hợp cho môi trường gia đình, văn phòng thông thường cần thao tác ra vào nhanh chóng.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Chế độ Xác thực 2 lớp (Two-Factor Authentication)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Bảo vệ khu vực trọng yếu &amp; Phòng thí nghiệm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Tùy chọn đa dạng cấu hình trực tiếp từ Web App: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1. Vân tay AS608 + Mã PIN Keypad 4x4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2. Thẻ từ RFID RC522 + Mã PIN Keypad 4x4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3. Vân tay AS608 + Thẻ từ RFID RC522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Quy trình xử lý phiên 2FA an toàn: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Bước 1: Người dùng xác thực lớp 1 đúng -&gt; Khóa chưa mở, màn hình LCD và Web hiển thị yêu cầu thực hiện tiếp lớp 2.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Bước 2: Kích hoạt bộ đếm thời gian Timeout 15 giây. Nếu nhập đúng lớp 2 -&gt; Mở khóa. Nếu quá 15s hoặc sai -&gt; Hủy phiên ngay lập tức.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8. Giao diện Web App quản lý &amp; Triển khai đám mây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Thiết kế giao diện hiện đại (Shadcn/Vercel)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Trực quan, dễ dùng trên cả Smartphone &amp; Laptop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Phong cách thiết kế tối giản: Tông màu sáng đơn sắc (Monochrome Light Theme), sử dụng hệ font chuẩn Inter và icon vector nét mảnh.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4 Phân hệ chức năng hoàn chỉnh: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Tổng quan: Trạng thái khóa cửa thời gian thực, nút mở từ xa, màn hình LCD 16x2 phản chiếu (Live Mirror).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Nhật ký ra vào: Ghi nhận thời gian, phương thức, kết quả hợp lệ/từ chối, bộ lọc và xuất file báo cáo CSV.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Quản lý vân tay &amp; RFID: Đăng ký mẫu vân tay mới, đọc thẻ nhanh từ RC522, xóa từng người dùng.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Cấu hình hệ thống: Chuyển đổi 1 lớp / 2 lớp, đổi mã PIN Keypad, chỉnh thời gian mở.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Triển khai trực tuyến &amp; Bộ giả lập phần cứng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Sẵn sàng trình chiếu demo trực tiếp tại buổi báo cáo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Triển khai thành công trên nền tảng Vercel: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Địa chỉ truy cập trực tuyến: https://smartdoor-nhom13-data.vercel.app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Đồng bộ liên tục qua kho mã nguồn GitHub: tuansonuet197/smartdoor-nhom13.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Bộ giả lập phần cứng tích hợp sẵn (Draggable Simulator):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Hỗ trợ kéo thả tự do trên màn hình để không che bảng điều khiển.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    • Cho phép giả lập quét vân tay đúng/sai, quẹt thẻ RFID và bàn phím 4x4 ảo để kiểm thử toàn diện quy trình 2FA ngay cả khi chưa cắm mạch.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559A"/>
                </a:solidFill>
              </a:defRPr>
            </a:pPr>
            <a:r>
              <a:t>BÁO CÁO TIẾN ĐỘ GIỮA KỲ — ĐỒ ÁN CƠ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347"/>
                </a:solidFill>
              </a:defRPr>
            </a:pPr>
            <a:r>
              <a:t>9. Tổng kết tiến độ giữa kỳ &amp; Kế hoạch giai đoạn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B2347"/>
                </a:solidFill>
              </a:defRPr>
            </a:pPr>
            <a:r>
              <a:t>Đánh giá kết quả giai đoạn giữa kỳ (Đạt 100%)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Hoàn thành đúng tiến độ Tuần 1 – Tuần 4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Khảo sát &amp; Chuẩn bị linh kiện: Đã mua đủ 100% linh kiện chính và phụ trợ (ESP32, AS608, RC522, Keypad 4x4, LCD I2C, Khóa 12V).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Nghiên cứu kỹ thuật: Nắm vững tập lệnh UART của AS608, giao thức SPI của RC522, cơ chế dập xung khóa điện 12V.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Thiết kế mạch in PCB: Hoàn thành 100% Schematic và Layout PCB 2 lớp, đã xuất file Gerber gửi xưởng gia công.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Phần mềm &amp; Web App: Hoàn thành 100% firmware nhúng Non-blocking, cơ chế bảo mật 2FA, giao diện Web App và deploy thành công lên Vercel.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5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559A"/>
                </a:solidFill>
              </a:defRPr>
            </a:pPr>
            <a:r>
              <a:t>Kế hoạch triển khai nửa cuối học kỳ (Tuần 5 – Tuần 8)</a:t>
            </a:r>
          </a:p>
          <a:p>
            <a:pPr>
              <a:spcAft>
                <a:spcPts val="800"/>
              </a:spcAft>
              <a:defRPr sz="1100">
                <a:solidFill>
                  <a:srgbClr val="646E7D"/>
                </a:solidFill>
              </a:defRPr>
            </a:pPr>
            <a:r>
              <a:t>Lộ trình đưa mô hình vào hoạt động thực tế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Tuần 5: Nhận mạch in PCB gia công, tiến hành hàn linh kiện, đo kiểm tra ổn định điện áp 12V, 5V, 3.3V và tầng công suất kích khóa.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Tuần 6: Gia công khung mô hình cửa cơ khí, gá lắp khóa chốt điện, đầu đọc vân tay, thẻ từ, bàn phím và màn hình LCD hoàn thiện.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Tuần 7: Nạp firmware tích hợp, kiểm thử hoạt động liên tục 24/7, đo đạc độ trễ nhận dạng và tinh chỉnh thuật toán.</a:t>
            </a:r>
          </a:p>
          <a:p>
            <a:pPr>
              <a:spcAft>
                <a:spcPts val="500"/>
              </a:spcAft>
              <a:defRPr sz="1200">
                <a:solidFill>
                  <a:srgbClr val="181E2A"/>
                </a:solidFill>
              </a:defRPr>
            </a:pPr>
            <a:r>
              <a:t>•  Tuần 8: Thu thập số liệu thực nghiệm, hoàn thiện báo cáo thuyết minh đồ án chuẩn học thuật UET và chuẩn bị slide bảo vệ tốt nghiệp.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