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914400"/>
            <a:ext cx="91440" cy="493776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914400"/>
            <a:ext cx="6583680" cy="4937760"/>
          </a:xfrm>
          <a:prstGeom prst="rect">
            <a:avLst/>
          </a:prstGeom>
          <a:noFill/>
        </p:spPr>
        <p:txBody>
          <a:bodyPr wrap="square">
            <a:spAutoFit/>
          </a:bodyPr>
          <a:lstStyle/>
          <a:p>
            <a:pPr>
              <a:spcAft>
                <a:spcPts val="1600"/>
              </a:spcAft>
              <a:defRPr sz="1200" b="1">
                <a:solidFill>
                  <a:srgbClr val="93C5FD"/>
                </a:solidFill>
              </a:defRPr>
            </a:pPr>
            <a:r>
              <a:t>ĐẠI HỌC QUỐC GIA HÀ NỘI</a:t>
            </a:r>
            <a:br/>
            <a:r>
              <a:t>TRƯỜNG ĐẠI HỌC CÔNG NGHỆ (UET)</a:t>
            </a:r>
          </a:p>
          <a:p>
            <a:pPr>
              <a:spcAft>
                <a:spcPts val="1200"/>
              </a:spcAft>
              <a:defRPr sz="1400" b="1">
                <a:solidFill>
                  <a:srgbClr val="FBBF24"/>
                </a:solidFill>
              </a:defRPr>
            </a:pPr>
            <a:r>
              <a:t>BÁO CÁO TIẾN ĐỘ GIỮA KỲ — ĐỒ ÁN CƠ ĐIỆN TỬ</a:t>
            </a:r>
          </a:p>
          <a:p>
            <a:pPr>
              <a:spcAft>
                <a:spcPts val="1600"/>
              </a:spcAft>
              <a:defRPr sz="2300" b="1">
                <a:solidFill>
                  <a:srgbClr val="FFFFFF"/>
                </a:solidFill>
              </a:defRPr>
            </a:pPr>
            <a:r>
              <a:t>THIẾT KẾ MÔ HÌNH HỆ THỐNG CỬA BẢO MẬT TÍCH HỢP VÂN TAY AS608, THẺ TỪ RFID RC522, KEYPAD 4x4 &amp; WEB APP</a:t>
            </a:r>
          </a:p>
          <a:p>
            <a:pPr>
              <a:defRPr sz="1250">
                <a:solidFill>
                  <a:srgbClr val="DBEAFE"/>
                </a:solidFill>
              </a:defRPr>
            </a:pPr>
            <a:r>
              <a:t>•  Nhóm thực hiện: Nhóm 13</a:t>
            </a:r>
            <a:br/>
            <a:r>
              <a:t>•  Nguyễn Tuấn Sơn — Phần mềm nhúng ESP32, Web App &amp; Báo cáo</a:t>
            </a:r>
            <a:br/>
            <a:r>
              <a:t>•  Vũ Hữu Hoạt — Thiết kế phần cứng, Mạch in PCB 2 lớp &amp; Mô hình cơ khí</a:t>
            </a:r>
            <a:br/>
            <a:br/>
            <a:r>
              <a:t>•  Tiến độ hiện tại: Đã mua đủ 100% linh kiện, hoàn tất vẽ PCB &amp; triển khai Web App trên Vercel</a:t>
            </a:r>
          </a:p>
        </p:txBody>
      </p:sp>
      <p:sp>
        <p:nvSpPr>
          <p:cNvPr id="5" name="Rounded Rectangle 4"/>
          <p:cNvSpPr/>
          <p:nvPr/>
        </p:nvSpPr>
        <p:spPr>
          <a:xfrm>
            <a:off x="7635240" y="960120"/>
            <a:ext cx="4069080" cy="2697480"/>
          </a:xfrm>
          <a:prstGeom prst="round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web_dashboard.png"/>
          <p:cNvPicPr>
            <a:picLocks noChangeAspect="1"/>
          </p:cNvPicPr>
          <p:nvPr/>
        </p:nvPicPr>
        <p:blipFill>
          <a:blip r:embed="rId2"/>
          <a:stretch>
            <a:fillRect/>
          </a:stretch>
        </p:blipFill>
        <p:spPr>
          <a:xfrm>
            <a:off x="7975023" y="1069848"/>
            <a:ext cx="3389514" cy="2130552"/>
          </a:xfrm>
          <a:prstGeom prst="rect">
            <a:avLst/>
          </a:prstGeom>
        </p:spPr>
      </p:pic>
      <p:sp>
        <p:nvSpPr>
          <p:cNvPr id="7" name="TextBox 6"/>
          <p:cNvSpPr txBox="1"/>
          <p:nvPr/>
        </p:nvSpPr>
        <p:spPr>
          <a:xfrm>
            <a:off x="7744968" y="3273552"/>
            <a:ext cx="3849624" cy="347472"/>
          </a:xfrm>
          <a:prstGeom prst="rect">
            <a:avLst/>
          </a:prstGeom>
          <a:noFill/>
        </p:spPr>
        <p:txBody>
          <a:bodyPr wrap="square">
            <a:spAutoFit/>
          </a:bodyPr>
          <a:lstStyle/>
          <a:p>
            <a:pPr algn="ctr">
              <a:defRPr sz="1000" b="1">
                <a:solidFill>
                  <a:srgbClr val="0B2347"/>
                </a:solidFill>
              </a:defRPr>
            </a:pPr>
            <a:r>
              <a:t>Giao diện Web App đã hoàn thiện</a:t>
            </a:r>
          </a:p>
        </p:txBody>
      </p:sp>
      <p:sp>
        <p:nvSpPr>
          <p:cNvPr id="8" name="Rounded Rectangle 7"/>
          <p:cNvSpPr/>
          <p:nvPr/>
        </p:nvSpPr>
        <p:spPr>
          <a:xfrm>
            <a:off x="7635240" y="3840480"/>
            <a:ext cx="1280160" cy="1965960"/>
          </a:xfrm>
          <a:prstGeom prst="round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2.jpg"/>
          <p:cNvPicPr>
            <a:picLocks noChangeAspect="1"/>
          </p:cNvPicPr>
          <p:nvPr/>
        </p:nvPicPr>
        <p:blipFill>
          <a:blip r:embed="rId3"/>
          <a:stretch>
            <a:fillRect/>
          </a:stretch>
        </p:blipFill>
        <p:spPr>
          <a:xfrm>
            <a:off x="7744968" y="4119372"/>
            <a:ext cx="1060704" cy="1060704"/>
          </a:xfrm>
          <a:prstGeom prst="rect">
            <a:avLst/>
          </a:prstGeom>
        </p:spPr>
      </p:pic>
      <p:sp>
        <p:nvSpPr>
          <p:cNvPr id="10" name="TextBox 9"/>
          <p:cNvSpPr txBox="1"/>
          <p:nvPr/>
        </p:nvSpPr>
        <p:spPr>
          <a:xfrm>
            <a:off x="7744968" y="5422392"/>
            <a:ext cx="1060704" cy="347472"/>
          </a:xfrm>
          <a:prstGeom prst="rect">
            <a:avLst/>
          </a:prstGeom>
          <a:noFill/>
        </p:spPr>
        <p:txBody>
          <a:bodyPr wrap="square">
            <a:spAutoFit/>
          </a:bodyPr>
          <a:lstStyle/>
          <a:p>
            <a:pPr algn="ctr">
              <a:defRPr sz="1000" b="1">
                <a:solidFill>
                  <a:srgbClr val="0B2347"/>
                </a:solidFill>
              </a:defRPr>
            </a:pPr>
            <a:r>
              <a:t>Vân tay AS608</a:t>
            </a:r>
          </a:p>
        </p:txBody>
      </p:sp>
      <p:sp>
        <p:nvSpPr>
          <p:cNvPr id="11" name="Rounded Rectangle 10"/>
          <p:cNvSpPr/>
          <p:nvPr/>
        </p:nvSpPr>
        <p:spPr>
          <a:xfrm>
            <a:off x="9025128" y="3840480"/>
            <a:ext cx="1280160" cy="1965960"/>
          </a:xfrm>
          <a:prstGeom prst="round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3.jpg"/>
          <p:cNvPicPr>
            <a:picLocks noChangeAspect="1"/>
          </p:cNvPicPr>
          <p:nvPr/>
        </p:nvPicPr>
        <p:blipFill>
          <a:blip r:embed="rId4"/>
          <a:stretch>
            <a:fillRect/>
          </a:stretch>
        </p:blipFill>
        <p:spPr>
          <a:xfrm>
            <a:off x="9134856" y="4119372"/>
            <a:ext cx="1060704" cy="1060704"/>
          </a:xfrm>
          <a:prstGeom prst="rect">
            <a:avLst/>
          </a:prstGeom>
        </p:spPr>
      </p:pic>
      <p:sp>
        <p:nvSpPr>
          <p:cNvPr id="13" name="TextBox 12"/>
          <p:cNvSpPr txBox="1"/>
          <p:nvPr/>
        </p:nvSpPr>
        <p:spPr>
          <a:xfrm>
            <a:off x="9134856" y="5422392"/>
            <a:ext cx="1060704" cy="347472"/>
          </a:xfrm>
          <a:prstGeom prst="rect">
            <a:avLst/>
          </a:prstGeom>
          <a:noFill/>
        </p:spPr>
        <p:txBody>
          <a:bodyPr wrap="square">
            <a:spAutoFit/>
          </a:bodyPr>
          <a:lstStyle/>
          <a:p>
            <a:pPr algn="ctr">
              <a:defRPr sz="1000" b="1">
                <a:solidFill>
                  <a:srgbClr val="0B2347"/>
                </a:solidFill>
              </a:defRPr>
            </a:pPr>
            <a:r>
              <a:t>RFID RC522</a:t>
            </a:r>
          </a:p>
        </p:txBody>
      </p:sp>
      <p:sp>
        <p:nvSpPr>
          <p:cNvPr id="14" name="Rounded Rectangle 13"/>
          <p:cNvSpPr/>
          <p:nvPr/>
        </p:nvSpPr>
        <p:spPr>
          <a:xfrm>
            <a:off x="10424160" y="3840480"/>
            <a:ext cx="1280160" cy="1965960"/>
          </a:xfrm>
          <a:prstGeom prst="round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4.jpg"/>
          <p:cNvPicPr>
            <a:picLocks noChangeAspect="1"/>
          </p:cNvPicPr>
          <p:nvPr/>
        </p:nvPicPr>
        <p:blipFill>
          <a:blip r:embed="rId5"/>
          <a:stretch>
            <a:fillRect/>
          </a:stretch>
        </p:blipFill>
        <p:spPr>
          <a:xfrm>
            <a:off x="10533888" y="4119372"/>
            <a:ext cx="1060704" cy="1060704"/>
          </a:xfrm>
          <a:prstGeom prst="rect">
            <a:avLst/>
          </a:prstGeom>
        </p:spPr>
      </p:pic>
      <p:sp>
        <p:nvSpPr>
          <p:cNvPr id="16" name="TextBox 15"/>
          <p:cNvSpPr txBox="1"/>
          <p:nvPr/>
        </p:nvSpPr>
        <p:spPr>
          <a:xfrm>
            <a:off x="10533888" y="5422392"/>
            <a:ext cx="1060704" cy="347472"/>
          </a:xfrm>
          <a:prstGeom prst="rect">
            <a:avLst/>
          </a:prstGeom>
          <a:noFill/>
        </p:spPr>
        <p:txBody>
          <a:bodyPr wrap="square">
            <a:spAutoFit/>
          </a:bodyPr>
          <a:lstStyle/>
          <a:p>
            <a:pPr algn="ctr">
              <a:defRPr sz="1000" b="1">
                <a:solidFill>
                  <a:srgbClr val="0B2347"/>
                </a:solidFill>
              </a:defRPr>
            </a:pPr>
            <a:r>
              <a:t>Keypad 4x4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105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9601200" cy="274320"/>
          </a:xfrm>
          <a:prstGeom prst="rect">
            <a:avLst/>
          </a:prstGeom>
          <a:noFill/>
        </p:spPr>
        <p:txBody>
          <a:bodyPr wrap="none" lIns="0" tIns="0" rIns="0" bIns="0">
            <a:spAutoFit/>
          </a:bodyPr>
          <a:lstStyle/>
          <a:p>
            <a:pPr>
              <a:defRPr sz="1050" b="1">
                <a:solidFill>
                  <a:srgbClr val="10559A"/>
                </a:solidFill>
              </a:defRPr>
            </a:pPr>
            <a:r>
              <a:t>BÁO CÁO TIẾN ĐỘ GIỮA KỲ — ĐỒ ÁN CƠ ĐIỆN TỬ (NHÓM 13)</a:t>
            </a:r>
          </a:p>
        </p:txBody>
      </p:sp>
      <p:sp>
        <p:nvSpPr>
          <p:cNvPr id="4" name="TextBox 3"/>
          <p:cNvSpPr txBox="1"/>
          <p:nvPr/>
        </p:nvSpPr>
        <p:spPr>
          <a:xfrm>
            <a:off x="594360" y="566928"/>
            <a:ext cx="10515600" cy="502920"/>
          </a:xfrm>
          <a:prstGeom prst="rect">
            <a:avLst/>
          </a:prstGeom>
          <a:noFill/>
        </p:spPr>
        <p:txBody>
          <a:bodyPr wrap="none" lIns="0" tIns="0" rIns="0" bIns="0">
            <a:spAutoFit/>
          </a:bodyPr>
          <a:lstStyle/>
          <a:p>
            <a:pPr>
              <a:defRPr sz="2100" b="1">
                <a:solidFill>
                  <a:srgbClr val="0B2347"/>
                </a:solidFill>
              </a:defRPr>
            </a:pPr>
            <a:r>
              <a:t>1. Cấu trúc tổng thể hệ thống &amp; Mục tiêu thiết kế</a:t>
            </a:r>
          </a:p>
        </p:txBody>
      </p:sp>
      <p:sp>
        <p:nvSpPr>
          <p:cNvPr id="5" name="TextBox 4"/>
          <p:cNvSpPr txBox="1"/>
          <p:nvPr/>
        </p:nvSpPr>
        <p:spPr>
          <a:xfrm>
            <a:off x="594360" y="6446520"/>
            <a:ext cx="10972800" cy="274320"/>
          </a:xfrm>
          <a:prstGeom prst="rect">
            <a:avLst/>
          </a:prstGeom>
          <a:noFill/>
        </p:spPr>
        <p:txBody>
          <a:bodyPr wrap="none">
            <a:spAutoFit/>
          </a:bodyPr>
          <a:lstStyle/>
          <a:p>
            <a:pPr>
              <a:defRPr sz="950">
                <a:solidFill>
                  <a:srgbClr val="5F6C7D"/>
                </a:solidFill>
              </a:defRPr>
            </a:pPr>
            <a:r>
              <a:t>Trường Đại học Công nghệ – ĐHQGHN  |  Nhóm 13: Nguyễn Tuấn Sơn – Vũ Hữu Hoạt                                                                                     Slide 2 / 10</a:t>
            </a:r>
          </a:p>
        </p:txBody>
      </p:sp>
      <p:sp>
        <p:nvSpPr>
          <p:cNvPr id="6" name="Rounded Rectangle 5"/>
          <p:cNvSpPr/>
          <p:nvPr/>
        </p:nvSpPr>
        <p:spPr>
          <a:xfrm>
            <a:off x="594360" y="1234440"/>
            <a:ext cx="5943600" cy="2971800"/>
          </a:xfrm>
          <a:prstGeom prst="round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1.png"/>
          <p:cNvPicPr>
            <a:picLocks noChangeAspect="1"/>
          </p:cNvPicPr>
          <p:nvPr/>
        </p:nvPicPr>
        <p:blipFill>
          <a:blip r:embed="rId2"/>
          <a:stretch>
            <a:fillRect/>
          </a:stretch>
        </p:blipFill>
        <p:spPr>
          <a:xfrm>
            <a:off x="704088" y="1572773"/>
            <a:ext cx="5724144" cy="1947661"/>
          </a:xfrm>
          <a:prstGeom prst="rect">
            <a:avLst/>
          </a:prstGeom>
        </p:spPr>
      </p:pic>
      <p:sp>
        <p:nvSpPr>
          <p:cNvPr id="8" name="TextBox 7"/>
          <p:cNvSpPr txBox="1"/>
          <p:nvPr/>
        </p:nvSpPr>
        <p:spPr>
          <a:xfrm>
            <a:off x="704088" y="3822192"/>
            <a:ext cx="5724144" cy="347472"/>
          </a:xfrm>
          <a:prstGeom prst="rect">
            <a:avLst/>
          </a:prstGeom>
          <a:noFill/>
        </p:spPr>
        <p:txBody>
          <a:bodyPr wrap="square">
            <a:spAutoFit/>
          </a:bodyPr>
          <a:lstStyle/>
          <a:p>
            <a:pPr algn="ctr">
              <a:defRPr sz="1000" b="1">
                <a:solidFill>
                  <a:srgbClr val="0B2347"/>
                </a:solidFill>
              </a:defRPr>
            </a:pPr>
            <a:r>
              <a:t>Hình 1.1: Sơ đồ khối tổng thể hệ thống cửa bảo mật tích hợp ESP32 &amp; Web App</a:t>
            </a:r>
          </a:p>
        </p:txBody>
      </p:sp>
      <p:sp>
        <p:nvSpPr>
          <p:cNvPr id="9" name="Rounded Rectangle 8"/>
          <p:cNvSpPr/>
          <p:nvPr/>
        </p:nvSpPr>
        <p:spPr>
          <a:xfrm>
            <a:off x="594360" y="4370832"/>
            <a:ext cx="5943600" cy="1920240"/>
          </a:xfrm>
          <a:prstGeom prst="roundRect">
            <a:avLst/>
          </a:prstGeom>
          <a:solidFill>
            <a:srgbClr val="F6F8FB"/>
          </a:solidFill>
          <a:ln w="1270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4535424"/>
            <a:ext cx="5541264" cy="1627632"/>
          </a:xfrm>
          <a:prstGeom prst="rect">
            <a:avLst/>
          </a:prstGeom>
          <a:noFill/>
        </p:spPr>
        <p:txBody>
          <a:bodyPr wrap="square" lIns="0" tIns="0" rIns="0" bIns="0">
            <a:spAutoFit/>
          </a:bodyPr>
          <a:lstStyle/>
          <a:p>
            <a:pPr>
              <a:spcAft>
                <a:spcPts val="300"/>
              </a:spcAft>
              <a:defRPr sz="1450" b="1">
                <a:solidFill>
                  <a:srgbClr val="0B2347"/>
                </a:solidFill>
              </a:defRPr>
            </a:pPr>
            <a:r>
              <a:t>Điểm cải tiến trong quá trình triển khai thực tế</a:t>
            </a:r>
          </a:p>
          <a:p>
            <a:pPr>
              <a:spcAft>
                <a:spcPts val="450"/>
              </a:spcAft>
              <a:defRPr sz="1100">
                <a:solidFill>
                  <a:srgbClr val="141C28"/>
                </a:solidFill>
              </a:defRPr>
            </a:pPr>
            <a:r>
              <a:t>•  Thay thế khối loa thông báo bằng Màn hình tinh thể lỏng LCD 16x2 I2C (0x27) giúp hiển thị trực quan trạng thái khóa, ký tự mật khẩu (*) và hướng dẫn xác thực 2 lớp.</a:t>
            </a:r>
          </a:p>
          <a:p>
            <a:pPr>
              <a:spcAft>
                <a:spcPts val="450"/>
              </a:spcAft>
              <a:defRPr sz="1100">
                <a:solidFill>
                  <a:srgbClr val="141C28"/>
                </a:solidFill>
              </a:defRPr>
            </a:pPr>
            <a:r>
              <a:t>•  Nâng cấp bàn phím lên chuẩn Ma trận 4x4 (16 phím vật lý có nắp che bụi) để tận dụng các phím A, B, C, D cho thao tác khóa nhanh và xác nhận.</a:t>
            </a:r>
          </a:p>
        </p:txBody>
      </p:sp>
      <p:sp>
        <p:nvSpPr>
          <p:cNvPr id="11" name="Rounded Rectangle 10"/>
          <p:cNvSpPr/>
          <p:nvPr/>
        </p:nvSpPr>
        <p:spPr>
          <a:xfrm>
            <a:off x="6720840" y="1234440"/>
            <a:ext cx="4873752" cy="5056632"/>
          </a:xfrm>
          <a:prstGeom prst="roundRect">
            <a:avLst/>
          </a:prstGeom>
          <a:solidFill>
            <a:srgbClr val="FFFFFF"/>
          </a:solidFill>
          <a:ln w="19050">
            <a:solidFill>
              <a:srgbClr val="105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22008" y="1399032"/>
            <a:ext cx="4471416" cy="4764024"/>
          </a:xfrm>
          <a:prstGeom prst="rect">
            <a:avLst/>
          </a:prstGeom>
          <a:noFill/>
        </p:spPr>
        <p:txBody>
          <a:bodyPr wrap="square" lIns="0" tIns="0" rIns="0" bIns="0">
            <a:spAutoFit/>
          </a:bodyPr>
          <a:lstStyle/>
          <a:p>
            <a:pPr>
              <a:spcAft>
                <a:spcPts val="300"/>
              </a:spcAft>
              <a:defRPr sz="1450" b="1">
                <a:solidFill>
                  <a:srgbClr val="10559A"/>
                </a:solidFill>
              </a:defRPr>
            </a:pPr>
            <a:r>
              <a:t>4 Khối chức năng đồng bộ của đề tài</a:t>
            </a:r>
          </a:p>
          <a:p>
            <a:pPr>
              <a:spcAft>
                <a:spcPts val="700"/>
              </a:spcAft>
              <a:defRPr sz="1050">
                <a:solidFill>
                  <a:srgbClr val="5F6C7D"/>
                </a:solidFill>
              </a:defRPr>
            </a:pPr>
            <a:r>
              <a:t>Sự kết hợp giữa phần cứng cơ điện tử và phần mềm nhúng</a:t>
            </a:r>
          </a:p>
          <a:p>
            <a:pPr>
              <a:spcAft>
                <a:spcPts val="450"/>
              </a:spcAft>
              <a:defRPr sz="1150">
                <a:solidFill>
                  <a:srgbClr val="141C28"/>
                </a:solidFill>
              </a:defRPr>
            </a:pPr>
            <a:r>
              <a:t>•  Khối Thu thập &amp; Xác thực: Kết hợp 3 phương thức độc lập gồm Cảm biến vân tay quang học AS608 (UART2), Đầu đọc thẻ RFID RC522 (SPI 13.56MHz) và Bàn phím ma trận 4x4.</a:t>
            </a:r>
          </a:p>
          <a:p>
            <a:pPr>
              <a:spcAft>
                <a:spcPts val="450"/>
              </a:spcAft>
              <a:defRPr sz="1150">
                <a:solidFill>
                  <a:srgbClr val="141C28"/>
                </a:solidFill>
              </a:defRPr>
            </a:pPr>
            <a:r>
              <a:t>•  Khối Mạch in trung tâm (PCB): Liên kết toàn bộ các module về vi điều khiển ESP32, tích hợp nguồn hạ áp (12V -&gt; 5V/3.3V) và mạch kích khóa chốt kèm Diode chống xung nhiễu.</a:t>
            </a:r>
          </a:p>
          <a:p>
            <a:pPr>
              <a:spcAft>
                <a:spcPts val="450"/>
              </a:spcAft>
              <a:defRPr sz="1150">
                <a:solidFill>
                  <a:srgbClr val="141C28"/>
                </a:solidFill>
              </a:defRPr>
            </a:pPr>
            <a:r>
              <a:t>•  Khối Hiển thị &amp; Chấp hành tại cửa: Màn hình LCD 16x2 hiển thị hướng dẫn tại chỗ và Khóa chốt điện từ 12V đóng/mở cửa tự động.</a:t>
            </a:r>
          </a:p>
          <a:p>
            <a:pPr>
              <a:spcAft>
                <a:spcPts val="450"/>
              </a:spcAft>
              <a:defRPr sz="1150">
                <a:solidFill>
                  <a:srgbClr val="141C28"/>
                </a:solidFill>
              </a:defRPr>
            </a:pPr>
            <a:r>
              <a:t>•  Khối Giao diện Web App (ESP32 Wi-Fi): Theo dõi trạng thái cửa thời gian thực qua WebSocket, mở khóa từ xa, quản lý danh sách thẻ/vân tay và chuyển đổi bảo mật 1 lớp / 2 lớp (2FA).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105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9601200" cy="274320"/>
          </a:xfrm>
          <a:prstGeom prst="rect">
            <a:avLst/>
          </a:prstGeom>
          <a:noFill/>
        </p:spPr>
        <p:txBody>
          <a:bodyPr wrap="none" lIns="0" tIns="0" rIns="0" bIns="0">
            <a:spAutoFit/>
          </a:bodyPr>
          <a:lstStyle/>
          <a:p>
            <a:pPr>
              <a:defRPr sz="1050" b="1">
                <a:solidFill>
                  <a:srgbClr val="10559A"/>
                </a:solidFill>
              </a:defRPr>
            </a:pPr>
            <a:r>
              <a:t>BÁO CÁO TIẾN ĐỘ GIỮA KỲ — ĐỒ ÁN CƠ ĐIỆN TỬ (NHÓM 13)</a:t>
            </a:r>
          </a:p>
        </p:txBody>
      </p:sp>
      <p:sp>
        <p:nvSpPr>
          <p:cNvPr id="4" name="TextBox 3"/>
          <p:cNvSpPr txBox="1"/>
          <p:nvPr/>
        </p:nvSpPr>
        <p:spPr>
          <a:xfrm>
            <a:off x="594360" y="566928"/>
            <a:ext cx="10515600" cy="502920"/>
          </a:xfrm>
          <a:prstGeom prst="rect">
            <a:avLst/>
          </a:prstGeom>
          <a:noFill/>
        </p:spPr>
        <p:txBody>
          <a:bodyPr wrap="none" lIns="0" tIns="0" rIns="0" bIns="0">
            <a:spAutoFit/>
          </a:bodyPr>
          <a:lstStyle/>
          <a:p>
            <a:pPr>
              <a:defRPr sz="2100" b="1">
                <a:solidFill>
                  <a:srgbClr val="0B2347"/>
                </a:solidFill>
              </a:defRPr>
            </a:pPr>
            <a:r>
              <a:t>2. Danh mục linh kiện thực tế đã chuẩn bị &amp; Thông số Datasheet</a:t>
            </a:r>
          </a:p>
        </p:txBody>
      </p:sp>
      <p:sp>
        <p:nvSpPr>
          <p:cNvPr id="5" name="TextBox 4"/>
          <p:cNvSpPr txBox="1"/>
          <p:nvPr/>
        </p:nvSpPr>
        <p:spPr>
          <a:xfrm>
            <a:off x="594360" y="6446520"/>
            <a:ext cx="10972800" cy="274320"/>
          </a:xfrm>
          <a:prstGeom prst="rect">
            <a:avLst/>
          </a:prstGeom>
          <a:noFill/>
        </p:spPr>
        <p:txBody>
          <a:bodyPr wrap="none">
            <a:spAutoFit/>
          </a:bodyPr>
          <a:lstStyle/>
          <a:p>
            <a:pPr>
              <a:defRPr sz="950">
                <a:solidFill>
                  <a:srgbClr val="5F6C7D"/>
                </a:solidFill>
              </a:defRPr>
            </a:pPr>
            <a:r>
              <a:t>Trường Đại học Công nghệ – ĐHQGHN  |  Nhóm 13: Nguyễn Tuấn Sơn – Vũ Hữu Hoạt                                                                                     Slide 3 / 10</a:t>
            </a:r>
          </a:p>
        </p:txBody>
      </p:sp>
      <p:sp>
        <p:nvSpPr>
          <p:cNvPr id="6" name="Rounded Rectangle 5"/>
          <p:cNvSpPr/>
          <p:nvPr/>
        </p:nvSpPr>
        <p:spPr>
          <a:xfrm>
            <a:off x="594360" y="1234440"/>
            <a:ext cx="3520440" cy="2331720"/>
          </a:xfrm>
          <a:prstGeom prst="round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2.jpg"/>
          <p:cNvPicPr>
            <a:picLocks noChangeAspect="1"/>
          </p:cNvPicPr>
          <p:nvPr/>
        </p:nvPicPr>
        <p:blipFill>
          <a:blip r:embed="rId2"/>
          <a:stretch>
            <a:fillRect/>
          </a:stretch>
        </p:blipFill>
        <p:spPr>
          <a:xfrm>
            <a:off x="1472184" y="1344168"/>
            <a:ext cx="1764792" cy="1764792"/>
          </a:xfrm>
          <a:prstGeom prst="rect">
            <a:avLst/>
          </a:prstGeom>
        </p:spPr>
      </p:pic>
      <p:sp>
        <p:nvSpPr>
          <p:cNvPr id="8" name="TextBox 7"/>
          <p:cNvSpPr txBox="1"/>
          <p:nvPr/>
        </p:nvSpPr>
        <p:spPr>
          <a:xfrm>
            <a:off x="704088" y="3182112"/>
            <a:ext cx="3300984" cy="347472"/>
          </a:xfrm>
          <a:prstGeom prst="rect">
            <a:avLst/>
          </a:prstGeom>
          <a:noFill/>
        </p:spPr>
        <p:txBody>
          <a:bodyPr wrap="square">
            <a:spAutoFit/>
          </a:bodyPr>
          <a:lstStyle/>
          <a:p>
            <a:pPr algn="ctr">
              <a:defRPr sz="1000" b="1">
                <a:solidFill>
                  <a:srgbClr val="0B2347"/>
                </a:solidFill>
              </a:defRPr>
            </a:pPr>
            <a:r>
              <a:t>Cảm biến vân tay quang học AS608 (Đã mua)</a:t>
            </a:r>
          </a:p>
        </p:txBody>
      </p:sp>
      <p:sp>
        <p:nvSpPr>
          <p:cNvPr id="9" name="Rounded Rectangle 8"/>
          <p:cNvSpPr/>
          <p:nvPr/>
        </p:nvSpPr>
        <p:spPr>
          <a:xfrm>
            <a:off x="594360" y="3675887"/>
            <a:ext cx="3520440" cy="2606040"/>
          </a:xfrm>
          <a:prstGeom prst="roundRect">
            <a:avLst/>
          </a:prstGeom>
          <a:solidFill>
            <a:srgbClr val="F6F8FB"/>
          </a:solidFill>
          <a:ln w="1270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3840479"/>
            <a:ext cx="3118104" cy="2313432"/>
          </a:xfrm>
          <a:prstGeom prst="rect">
            <a:avLst/>
          </a:prstGeom>
          <a:noFill/>
        </p:spPr>
        <p:txBody>
          <a:bodyPr wrap="square" lIns="0" tIns="0" rIns="0" bIns="0">
            <a:spAutoFit/>
          </a:bodyPr>
          <a:lstStyle/>
          <a:p>
            <a:pPr>
              <a:spcAft>
                <a:spcPts val="300"/>
              </a:spcAft>
              <a:defRPr sz="1450" b="1">
                <a:solidFill>
                  <a:srgbClr val="0B2347"/>
                </a:solidFill>
              </a:defRPr>
            </a:pPr>
            <a:r>
              <a:t>Thông số Datasheet AS608</a:t>
            </a:r>
          </a:p>
          <a:p>
            <a:pPr>
              <a:spcAft>
                <a:spcPts val="450"/>
              </a:spcAft>
              <a:defRPr sz="1100">
                <a:solidFill>
                  <a:srgbClr val="141C28"/>
                </a:solidFill>
              </a:defRPr>
            </a:pPr>
            <a:r>
              <a:t>•  Điện áp cấp: 3.3V – 5.0V DC (Dòng đỉnh &lt; 120mA).</a:t>
            </a:r>
          </a:p>
          <a:p>
            <a:pPr>
              <a:spcAft>
                <a:spcPts val="450"/>
              </a:spcAft>
              <a:defRPr sz="1100">
                <a:solidFill>
                  <a:srgbClr val="141C28"/>
                </a:solidFill>
              </a:defRPr>
            </a:pPr>
            <a:r>
              <a:t>•  Giao tiếp: UART TTL (57600 bps) qua Header 6 chân.</a:t>
            </a:r>
          </a:p>
          <a:p>
            <a:pPr>
              <a:spcAft>
                <a:spcPts val="450"/>
              </a:spcAft>
              <a:defRPr sz="1100">
                <a:solidFill>
                  <a:srgbClr val="141C28"/>
                </a:solidFill>
              </a:defRPr>
            </a:pPr>
            <a:r>
              <a:t>•  Lưu trữ: Tối đa 127 mẫu vân tay trong Flash nội.</a:t>
            </a:r>
          </a:p>
          <a:p>
            <a:pPr>
              <a:spcAft>
                <a:spcPts val="450"/>
              </a:spcAft>
              <a:defRPr sz="1100">
                <a:solidFill>
                  <a:srgbClr val="141C28"/>
                </a:solidFill>
              </a:defRPr>
            </a:pPr>
            <a:r>
              <a:t>•  Thời gian xử lý ảnh &amp; tìm kiếm: &lt; 1.0 giây.</a:t>
            </a:r>
          </a:p>
        </p:txBody>
      </p:sp>
      <p:sp>
        <p:nvSpPr>
          <p:cNvPr id="11" name="Rounded Rectangle 10"/>
          <p:cNvSpPr/>
          <p:nvPr/>
        </p:nvSpPr>
        <p:spPr>
          <a:xfrm>
            <a:off x="4334256" y="1234440"/>
            <a:ext cx="3520440" cy="2331720"/>
          </a:xfrm>
          <a:prstGeom prst="round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3.jpg"/>
          <p:cNvPicPr>
            <a:picLocks noChangeAspect="1"/>
          </p:cNvPicPr>
          <p:nvPr/>
        </p:nvPicPr>
        <p:blipFill>
          <a:blip r:embed="rId3"/>
          <a:stretch>
            <a:fillRect/>
          </a:stretch>
        </p:blipFill>
        <p:spPr>
          <a:xfrm>
            <a:off x="5212080" y="1344168"/>
            <a:ext cx="1764792" cy="1764792"/>
          </a:xfrm>
          <a:prstGeom prst="rect">
            <a:avLst/>
          </a:prstGeom>
        </p:spPr>
      </p:pic>
      <p:sp>
        <p:nvSpPr>
          <p:cNvPr id="13" name="TextBox 12"/>
          <p:cNvSpPr txBox="1"/>
          <p:nvPr/>
        </p:nvSpPr>
        <p:spPr>
          <a:xfrm>
            <a:off x="4443984" y="3182112"/>
            <a:ext cx="3300984" cy="347472"/>
          </a:xfrm>
          <a:prstGeom prst="rect">
            <a:avLst/>
          </a:prstGeom>
          <a:noFill/>
        </p:spPr>
        <p:txBody>
          <a:bodyPr wrap="square">
            <a:spAutoFit/>
          </a:bodyPr>
          <a:lstStyle/>
          <a:p>
            <a:pPr algn="ctr">
              <a:defRPr sz="1000" b="1">
                <a:solidFill>
                  <a:srgbClr val="0B2347"/>
                </a:solidFill>
              </a:defRPr>
            </a:pPr>
            <a:r>
              <a:t>Module RFID RC522 13.56MHz + Thẻ S50 (Đã mua)</a:t>
            </a:r>
          </a:p>
        </p:txBody>
      </p:sp>
      <p:sp>
        <p:nvSpPr>
          <p:cNvPr id="14" name="Rounded Rectangle 13"/>
          <p:cNvSpPr/>
          <p:nvPr/>
        </p:nvSpPr>
        <p:spPr>
          <a:xfrm>
            <a:off x="4334256" y="3675887"/>
            <a:ext cx="3520440" cy="2606040"/>
          </a:xfrm>
          <a:prstGeom prst="roundRect">
            <a:avLst/>
          </a:prstGeom>
          <a:solidFill>
            <a:srgbClr val="FFFFFF"/>
          </a:solidFill>
          <a:ln w="19050">
            <a:solidFill>
              <a:srgbClr val="105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35424" y="3840479"/>
            <a:ext cx="3118104" cy="2313432"/>
          </a:xfrm>
          <a:prstGeom prst="rect">
            <a:avLst/>
          </a:prstGeom>
          <a:noFill/>
        </p:spPr>
        <p:txBody>
          <a:bodyPr wrap="square" lIns="0" tIns="0" rIns="0" bIns="0">
            <a:spAutoFit/>
          </a:bodyPr>
          <a:lstStyle/>
          <a:p>
            <a:pPr>
              <a:spcAft>
                <a:spcPts val="300"/>
              </a:spcAft>
              <a:defRPr sz="1450" b="1">
                <a:solidFill>
                  <a:srgbClr val="10559A"/>
                </a:solidFill>
              </a:defRPr>
            </a:pPr>
            <a:r>
              <a:t>Thông số Datasheet RC522</a:t>
            </a:r>
          </a:p>
          <a:p>
            <a:pPr>
              <a:spcAft>
                <a:spcPts val="450"/>
              </a:spcAft>
              <a:defRPr sz="1100">
                <a:solidFill>
                  <a:srgbClr val="141C28"/>
                </a:solidFill>
              </a:defRPr>
            </a:pPr>
            <a:r>
              <a:t>•  Nguồn cấp bắt buộc: 3.3V DC (Dòng 13 – 26mA).</a:t>
            </a:r>
          </a:p>
          <a:p>
            <a:pPr>
              <a:spcAft>
                <a:spcPts val="450"/>
              </a:spcAft>
              <a:defRPr sz="1100">
                <a:solidFill>
                  <a:srgbClr val="141C28"/>
                </a:solidFill>
              </a:defRPr>
            </a:pPr>
            <a:r>
              <a:t>•  Tần số hoạt động: 13.56 MHz (Đọc thẻ S50 &amp; NFC).</a:t>
            </a:r>
          </a:p>
          <a:p>
            <a:pPr>
              <a:spcAft>
                <a:spcPts val="450"/>
              </a:spcAft>
              <a:defRPr sz="1100">
                <a:solidFill>
                  <a:srgbClr val="141C28"/>
                </a:solidFill>
              </a:defRPr>
            </a:pPr>
            <a:r>
              <a:t>•  Giao tiếp: Chuẩn SPI tốc độ cao (10 Mbps).</a:t>
            </a:r>
          </a:p>
          <a:p>
            <a:pPr>
              <a:spcAft>
                <a:spcPts val="450"/>
              </a:spcAft>
              <a:defRPr sz="1100">
                <a:solidFill>
                  <a:srgbClr val="141C28"/>
                </a:solidFill>
              </a:defRPr>
            </a:pPr>
            <a:r>
              <a:t>•  Khoảng cách nhận diện thẻ: 0 – 30 mm.</a:t>
            </a:r>
          </a:p>
        </p:txBody>
      </p:sp>
      <p:sp>
        <p:nvSpPr>
          <p:cNvPr id="16" name="Rounded Rectangle 15"/>
          <p:cNvSpPr/>
          <p:nvPr/>
        </p:nvSpPr>
        <p:spPr>
          <a:xfrm>
            <a:off x="8074152" y="1234440"/>
            <a:ext cx="3520440" cy="2331720"/>
          </a:xfrm>
          <a:prstGeom prst="round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mage4.jpg"/>
          <p:cNvPicPr>
            <a:picLocks noChangeAspect="1"/>
          </p:cNvPicPr>
          <p:nvPr/>
        </p:nvPicPr>
        <p:blipFill>
          <a:blip r:embed="rId4"/>
          <a:stretch>
            <a:fillRect/>
          </a:stretch>
        </p:blipFill>
        <p:spPr>
          <a:xfrm>
            <a:off x="8951976" y="1344168"/>
            <a:ext cx="1764792" cy="1764792"/>
          </a:xfrm>
          <a:prstGeom prst="rect">
            <a:avLst/>
          </a:prstGeom>
        </p:spPr>
      </p:pic>
      <p:sp>
        <p:nvSpPr>
          <p:cNvPr id="18" name="TextBox 17"/>
          <p:cNvSpPr txBox="1"/>
          <p:nvPr/>
        </p:nvSpPr>
        <p:spPr>
          <a:xfrm>
            <a:off x="8183880" y="3182112"/>
            <a:ext cx="3300984" cy="347472"/>
          </a:xfrm>
          <a:prstGeom prst="rect">
            <a:avLst/>
          </a:prstGeom>
          <a:noFill/>
        </p:spPr>
        <p:txBody>
          <a:bodyPr wrap="square">
            <a:spAutoFit/>
          </a:bodyPr>
          <a:lstStyle/>
          <a:p>
            <a:pPr algn="ctr">
              <a:defRPr sz="1000" b="1">
                <a:solidFill>
                  <a:srgbClr val="0B2347"/>
                </a:solidFill>
              </a:defRPr>
            </a:pPr>
            <a:r>
              <a:t>Bàn phím cứng ma trận có nắp đậy (Đã mua)</a:t>
            </a:r>
          </a:p>
        </p:txBody>
      </p:sp>
      <p:sp>
        <p:nvSpPr>
          <p:cNvPr id="19" name="Rounded Rectangle 18"/>
          <p:cNvSpPr/>
          <p:nvPr/>
        </p:nvSpPr>
        <p:spPr>
          <a:xfrm>
            <a:off x="8074152" y="3675887"/>
            <a:ext cx="3520440" cy="2606040"/>
          </a:xfrm>
          <a:prstGeom prst="roundRect">
            <a:avLst/>
          </a:prstGeom>
          <a:solidFill>
            <a:srgbClr val="F6F8FB"/>
          </a:solidFill>
          <a:ln w="1270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3840479"/>
            <a:ext cx="3118104" cy="2313432"/>
          </a:xfrm>
          <a:prstGeom prst="rect">
            <a:avLst/>
          </a:prstGeom>
          <a:noFill/>
        </p:spPr>
        <p:txBody>
          <a:bodyPr wrap="square" lIns="0" tIns="0" rIns="0" bIns="0">
            <a:spAutoFit/>
          </a:bodyPr>
          <a:lstStyle/>
          <a:p>
            <a:pPr>
              <a:spcAft>
                <a:spcPts val="300"/>
              </a:spcAft>
              <a:defRPr sz="1450" b="1">
                <a:solidFill>
                  <a:srgbClr val="0B2347"/>
                </a:solidFill>
              </a:defRPr>
            </a:pPr>
            <a:r>
              <a:t>Keypad 4x4, LCD I2C &amp; Khóa 12V</a:t>
            </a:r>
          </a:p>
          <a:p>
            <a:pPr>
              <a:spcAft>
                <a:spcPts val="450"/>
              </a:spcAft>
              <a:defRPr sz="1100">
                <a:solidFill>
                  <a:srgbClr val="141C28"/>
                </a:solidFill>
              </a:defRPr>
            </a:pPr>
            <a:r>
              <a:t>•  Bàn phím ma trận 4x4: Phím vật lý độ nảy cao, có nắp che chống bụi, quét 8 chân Hàng – Cột về PCB.</a:t>
            </a:r>
          </a:p>
          <a:p>
            <a:pPr>
              <a:spcAft>
                <a:spcPts val="450"/>
              </a:spcAft>
              <a:defRPr sz="1100">
                <a:solidFill>
                  <a:srgbClr val="141C28"/>
                </a:solidFill>
              </a:defRPr>
            </a:pPr>
            <a:r>
              <a:t>•  Màn hình LCD 16x2 I2C: Điện áp 5V, địa chỉ 0x27.</a:t>
            </a:r>
          </a:p>
          <a:p>
            <a:pPr>
              <a:spcAft>
                <a:spcPts val="450"/>
              </a:spcAft>
              <a:defRPr sz="1100">
                <a:solidFill>
                  <a:srgbClr val="141C28"/>
                </a:solidFill>
              </a:defRPr>
            </a:pPr>
            <a:r>
              <a:t>•  Khóa chốt điện từ 12V: Dòng kích 0.8A – 1.2A, đóng mở qua Relay/MOSFET có Diode dập xung.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105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9601200" cy="274320"/>
          </a:xfrm>
          <a:prstGeom prst="rect">
            <a:avLst/>
          </a:prstGeom>
          <a:noFill/>
        </p:spPr>
        <p:txBody>
          <a:bodyPr wrap="none" lIns="0" tIns="0" rIns="0" bIns="0">
            <a:spAutoFit/>
          </a:bodyPr>
          <a:lstStyle/>
          <a:p>
            <a:pPr>
              <a:defRPr sz="1050" b="1">
                <a:solidFill>
                  <a:srgbClr val="10559A"/>
                </a:solidFill>
              </a:defRPr>
            </a:pPr>
            <a:r>
              <a:t>BÁO CÁO TIẾN ĐỘ GIỮA KỲ — ĐỒ ÁN CƠ ĐIỆN TỬ (NHÓM 13)</a:t>
            </a:r>
          </a:p>
        </p:txBody>
      </p:sp>
      <p:sp>
        <p:nvSpPr>
          <p:cNvPr id="4" name="TextBox 3"/>
          <p:cNvSpPr txBox="1"/>
          <p:nvPr/>
        </p:nvSpPr>
        <p:spPr>
          <a:xfrm>
            <a:off x="594360" y="566928"/>
            <a:ext cx="10515600" cy="502920"/>
          </a:xfrm>
          <a:prstGeom prst="rect">
            <a:avLst/>
          </a:prstGeom>
          <a:noFill/>
        </p:spPr>
        <p:txBody>
          <a:bodyPr wrap="none" lIns="0" tIns="0" rIns="0" bIns="0">
            <a:spAutoFit/>
          </a:bodyPr>
          <a:lstStyle/>
          <a:p>
            <a:pPr>
              <a:defRPr sz="2100" b="1">
                <a:solidFill>
                  <a:srgbClr val="0B2347"/>
                </a:solidFill>
              </a:defRPr>
            </a:pPr>
            <a:r>
              <a:t>3. Nghiên cứu giao thức kết nối &amp; Quy hoạch sơ đồ chân ESP32</a:t>
            </a:r>
          </a:p>
        </p:txBody>
      </p:sp>
      <p:sp>
        <p:nvSpPr>
          <p:cNvPr id="5" name="TextBox 4"/>
          <p:cNvSpPr txBox="1"/>
          <p:nvPr/>
        </p:nvSpPr>
        <p:spPr>
          <a:xfrm>
            <a:off x="594360" y="6446520"/>
            <a:ext cx="10972800" cy="274320"/>
          </a:xfrm>
          <a:prstGeom prst="rect">
            <a:avLst/>
          </a:prstGeom>
          <a:noFill/>
        </p:spPr>
        <p:txBody>
          <a:bodyPr wrap="none">
            <a:spAutoFit/>
          </a:bodyPr>
          <a:lstStyle/>
          <a:p>
            <a:pPr>
              <a:defRPr sz="950">
                <a:solidFill>
                  <a:srgbClr val="5F6C7D"/>
                </a:solidFill>
              </a:defRPr>
            </a:pPr>
            <a:r>
              <a:t>Trường Đại học Công nghệ – ĐHQGHN  |  Nhóm 13: Nguyễn Tuấn Sơn – Vũ Hữu Hoạt                                                                                     Slide 4 / 10</a:t>
            </a:r>
          </a:p>
        </p:txBody>
      </p:sp>
      <p:sp>
        <p:nvSpPr>
          <p:cNvPr id="6" name="Rounded Rectangle 5"/>
          <p:cNvSpPr/>
          <p:nvPr/>
        </p:nvSpPr>
        <p:spPr>
          <a:xfrm>
            <a:off x="594360" y="1234440"/>
            <a:ext cx="5669280" cy="5029200"/>
          </a:xfrm>
          <a:prstGeom prst="roundRect">
            <a:avLst/>
          </a:prstGeom>
          <a:solidFill>
            <a:srgbClr val="F6F8FB"/>
          </a:solidFill>
          <a:ln w="1270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399032"/>
            <a:ext cx="5266944" cy="4736592"/>
          </a:xfrm>
          <a:prstGeom prst="rect">
            <a:avLst/>
          </a:prstGeom>
          <a:noFill/>
        </p:spPr>
        <p:txBody>
          <a:bodyPr wrap="square" lIns="0" tIns="0" rIns="0" bIns="0">
            <a:spAutoFit/>
          </a:bodyPr>
          <a:lstStyle/>
          <a:p>
            <a:pPr>
              <a:spcAft>
                <a:spcPts val="300"/>
              </a:spcAft>
              <a:defRPr sz="1450" b="1">
                <a:solidFill>
                  <a:srgbClr val="0B2347"/>
                </a:solidFill>
              </a:defRPr>
            </a:pPr>
            <a:r>
              <a:t>Quy hoạch Sơ đồ chân (Pinout ESP32) đồng bộ PCB</a:t>
            </a:r>
          </a:p>
          <a:p>
            <a:pPr>
              <a:spcAft>
                <a:spcPts val="700"/>
              </a:spcAft>
              <a:defRPr sz="1050">
                <a:solidFill>
                  <a:srgbClr val="5F6C7D"/>
                </a:solidFill>
              </a:defRPr>
            </a:pPr>
            <a:r>
              <a:t>Đã kiểm chứng tránh toàn bộ chân cấm (Strapping Pins &amp; Input-Only Pins)</a:t>
            </a:r>
          </a:p>
          <a:p>
            <a:pPr>
              <a:spcAft>
                <a:spcPts val="450"/>
              </a:spcAft>
              <a:defRPr sz="1100">
                <a:solidFill>
                  <a:srgbClr val="141C28"/>
                </a:solidFill>
              </a:defRPr>
            </a:pPr>
            <a:r>
              <a:t>•  1. Cảm biến vân tay AS608 (Chuẩn UART2 - 57600 bps):</a:t>
            </a:r>
          </a:p>
          <a:p>
            <a:pPr>
              <a:spcAft>
                <a:spcPts val="450"/>
              </a:spcAft>
              <a:defRPr sz="1100">
                <a:solidFill>
                  <a:srgbClr val="141C28"/>
                </a:solidFill>
              </a:defRPr>
            </a:pPr>
            <a:r>
              <a:t>•      • Chân TX (AS608) -&gt; GPIO 16 (RX2)  |  Chân RX (AS608) -&gt; GPIO 17 (TX2)</a:t>
            </a:r>
          </a:p>
          <a:p>
            <a:pPr>
              <a:spcAft>
                <a:spcPts val="450"/>
              </a:spcAft>
              <a:defRPr sz="1100">
                <a:solidFill>
                  <a:srgbClr val="141C28"/>
                </a:solidFill>
              </a:defRPr>
            </a:pPr>
            <a:r>
              <a:t>•  2. Module đọc thẻ RFID RC522 (Chuẩn SPI - Nguồn 3.3V):</a:t>
            </a:r>
          </a:p>
          <a:p>
            <a:pPr>
              <a:spcAft>
                <a:spcPts val="450"/>
              </a:spcAft>
              <a:defRPr sz="1100">
                <a:solidFill>
                  <a:srgbClr val="141C28"/>
                </a:solidFill>
              </a:defRPr>
            </a:pPr>
            <a:r>
              <a:t>•      • SDA(SS): GPIO 5 | SCK: GPIO 18 | MOSI: GPIO 23 | MISO: GPIO 19 | RST: GPIO 4</a:t>
            </a:r>
          </a:p>
          <a:p>
            <a:pPr>
              <a:spcAft>
                <a:spcPts val="450"/>
              </a:spcAft>
              <a:defRPr sz="1100">
                <a:solidFill>
                  <a:srgbClr val="141C28"/>
                </a:solidFill>
              </a:defRPr>
            </a:pPr>
            <a:r>
              <a:t>•  3. Màn hình hiển thị LCD 16x2 (Chuẩn I2C - Địa chỉ 0x27):</a:t>
            </a:r>
          </a:p>
          <a:p>
            <a:pPr>
              <a:spcAft>
                <a:spcPts val="450"/>
              </a:spcAft>
              <a:defRPr sz="1100">
                <a:solidFill>
                  <a:srgbClr val="141C28"/>
                </a:solidFill>
              </a:defRPr>
            </a:pPr>
            <a:r>
              <a:t>•      • SDA -&gt; GPIO 21  |  SCL -&gt; GPIO 22</a:t>
            </a:r>
          </a:p>
          <a:p>
            <a:pPr>
              <a:spcAft>
                <a:spcPts val="450"/>
              </a:spcAft>
              <a:defRPr sz="1100">
                <a:solidFill>
                  <a:srgbClr val="141C28"/>
                </a:solidFill>
              </a:defRPr>
            </a:pPr>
            <a:r>
              <a:t>•  4. Cơ cấu chấp hành Khóa chốt điện từ 12V:</a:t>
            </a:r>
          </a:p>
          <a:p>
            <a:pPr>
              <a:spcAft>
                <a:spcPts val="450"/>
              </a:spcAft>
              <a:defRPr sz="1100">
                <a:solidFill>
                  <a:srgbClr val="141C28"/>
                </a:solidFill>
              </a:defRPr>
            </a:pPr>
            <a:r>
              <a:t>•      • Tín hiệu kích Relay/MOSFET -&gt; GPIO 2 (Mức HIGH kích mở khóa)</a:t>
            </a:r>
          </a:p>
          <a:p>
            <a:pPr>
              <a:spcAft>
                <a:spcPts val="450"/>
              </a:spcAft>
              <a:defRPr sz="1100">
                <a:solidFill>
                  <a:srgbClr val="141C28"/>
                </a:solidFill>
              </a:defRPr>
            </a:pPr>
            <a:r>
              <a:t>•  5. Bàn phím ma trận Keypad 4x4 (8 chân GPIO):</a:t>
            </a:r>
          </a:p>
          <a:p>
            <a:pPr>
              <a:spcAft>
                <a:spcPts val="450"/>
              </a:spcAft>
              <a:defRPr sz="1100">
                <a:solidFill>
                  <a:srgbClr val="141C28"/>
                </a:solidFill>
              </a:defRPr>
            </a:pPr>
            <a:r>
              <a:t>•      • 4 Hàng (R1 -&gt; R4): GPIO 13, 12, 14, 27  |  4 Cột (C1 -&gt; C4): GPIO 26, 25, 33, 32</a:t>
            </a:r>
          </a:p>
        </p:txBody>
      </p:sp>
      <p:sp>
        <p:nvSpPr>
          <p:cNvPr id="8" name="Rounded Rectangle 7"/>
          <p:cNvSpPr/>
          <p:nvPr/>
        </p:nvSpPr>
        <p:spPr>
          <a:xfrm>
            <a:off x="6446520" y="1234440"/>
            <a:ext cx="5148072" cy="5029200"/>
          </a:xfrm>
          <a:prstGeom prst="roundRect">
            <a:avLst/>
          </a:prstGeom>
          <a:solidFill>
            <a:srgbClr val="FFFFFF"/>
          </a:solidFill>
          <a:ln w="19050">
            <a:solidFill>
              <a:srgbClr val="105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47688" y="1399032"/>
            <a:ext cx="4745736" cy="4736592"/>
          </a:xfrm>
          <a:prstGeom prst="rect">
            <a:avLst/>
          </a:prstGeom>
          <a:noFill/>
        </p:spPr>
        <p:txBody>
          <a:bodyPr wrap="square" lIns="0" tIns="0" rIns="0" bIns="0">
            <a:spAutoFit/>
          </a:bodyPr>
          <a:lstStyle/>
          <a:p>
            <a:pPr>
              <a:spcAft>
                <a:spcPts val="300"/>
              </a:spcAft>
              <a:defRPr sz="1450" b="1">
                <a:solidFill>
                  <a:srgbClr val="10559A"/>
                </a:solidFill>
              </a:defRPr>
            </a:pPr>
            <a:r>
              <a:t>Giải quyết bài toán kỹ thuật khi nghiên cứu Datasheet</a:t>
            </a:r>
          </a:p>
          <a:p>
            <a:pPr>
              <a:spcAft>
                <a:spcPts val="700"/>
              </a:spcAft>
              <a:defRPr sz="1050">
                <a:solidFill>
                  <a:srgbClr val="5F6C7D"/>
                </a:solidFill>
              </a:defRPr>
            </a:pPr>
            <a:r>
              <a:t>Đảm bảo tính ổn định công nghiệp khi vận hành thực tế</a:t>
            </a:r>
          </a:p>
          <a:p>
            <a:pPr>
              <a:spcAft>
                <a:spcPts val="450"/>
              </a:spcAft>
              <a:defRPr sz="1150">
                <a:solidFill>
                  <a:srgbClr val="141C28"/>
                </a:solidFill>
              </a:defRPr>
            </a:pPr>
            <a:r>
              <a:t>•  Tránh xung đột chân Input-Only (GPIO 34, 35, 36, 39): Các chân này trên ESP32 không có điện trở kéo lên nội (INPUT_PULLUP). Do đó nhóm quy hoạch Keypad 4x4 vào cụm chân 12..33 để quét ma trận ổn định không cần trở ngoài.</a:t>
            </a:r>
          </a:p>
          <a:p>
            <a:pPr>
              <a:spcAft>
                <a:spcPts val="450"/>
              </a:spcAft>
              <a:defRPr sz="1150">
                <a:solidFill>
                  <a:srgbClr val="141C28"/>
                </a:solidFill>
              </a:defRPr>
            </a:pPr>
            <a:r>
              <a:t>•  Bảo vệ mức điện áp 3.3V cho RC522: Datasheet MFRC522 quy định chân VCC tối đa 3.6V. Mạch PCB tách đường nguồn 3.3V riêng cho RC522, tách biệt hoàn toàn với đường 5V của LCD và 12V của khóa chốt.</a:t>
            </a:r>
          </a:p>
          <a:p>
            <a:pPr>
              <a:spcAft>
                <a:spcPts val="450"/>
              </a:spcAft>
              <a:defRPr sz="1150">
                <a:solidFill>
                  <a:srgbClr val="141C28"/>
                </a:solidFill>
              </a:defRPr>
            </a:pPr>
            <a:r>
              <a:t>•  Triệt tiêu xung nhiễu cảm ứng từ Khóa chốt 12V: Khi ngắt dòng cuộn hút khóa 12V sẽ sinh ra sức điện động ngược làm treo ESP32. Nhóm bố trí Diode 1N4007 mắc ngược cực song song khóa 12V kết hợp tụ lọc 470uF.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105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9601200" cy="274320"/>
          </a:xfrm>
          <a:prstGeom prst="rect">
            <a:avLst/>
          </a:prstGeom>
          <a:noFill/>
        </p:spPr>
        <p:txBody>
          <a:bodyPr wrap="none" lIns="0" tIns="0" rIns="0" bIns="0">
            <a:spAutoFit/>
          </a:bodyPr>
          <a:lstStyle/>
          <a:p>
            <a:pPr>
              <a:defRPr sz="1050" b="1">
                <a:solidFill>
                  <a:srgbClr val="10559A"/>
                </a:solidFill>
              </a:defRPr>
            </a:pPr>
            <a:r>
              <a:t>BÁO CÁO TIẾN ĐỘ GIỮA KỲ — ĐỒ ÁN CƠ ĐIỆN TỬ (NHÓM 13)</a:t>
            </a:r>
          </a:p>
        </p:txBody>
      </p:sp>
      <p:sp>
        <p:nvSpPr>
          <p:cNvPr id="4" name="TextBox 3"/>
          <p:cNvSpPr txBox="1"/>
          <p:nvPr/>
        </p:nvSpPr>
        <p:spPr>
          <a:xfrm>
            <a:off x="594360" y="566928"/>
            <a:ext cx="10515600" cy="502920"/>
          </a:xfrm>
          <a:prstGeom prst="rect">
            <a:avLst/>
          </a:prstGeom>
          <a:noFill/>
        </p:spPr>
        <p:txBody>
          <a:bodyPr wrap="none" lIns="0" tIns="0" rIns="0" bIns="0">
            <a:spAutoFit/>
          </a:bodyPr>
          <a:lstStyle/>
          <a:p>
            <a:pPr>
              <a:defRPr sz="2100" b="1">
                <a:solidFill>
                  <a:srgbClr val="0B2347"/>
                </a:solidFill>
              </a:defRPr>
            </a:pPr>
            <a:r>
              <a:t>4. Kết quả thiết kế Sơ đồ nguyên lý &amp; Mạch in PCB (Vũ Hữu Hoạt)</a:t>
            </a:r>
          </a:p>
        </p:txBody>
      </p:sp>
      <p:sp>
        <p:nvSpPr>
          <p:cNvPr id="5" name="TextBox 4"/>
          <p:cNvSpPr txBox="1"/>
          <p:nvPr/>
        </p:nvSpPr>
        <p:spPr>
          <a:xfrm>
            <a:off x="594360" y="6446520"/>
            <a:ext cx="10972800" cy="274320"/>
          </a:xfrm>
          <a:prstGeom prst="rect">
            <a:avLst/>
          </a:prstGeom>
          <a:noFill/>
        </p:spPr>
        <p:txBody>
          <a:bodyPr wrap="none">
            <a:spAutoFit/>
          </a:bodyPr>
          <a:lstStyle/>
          <a:p>
            <a:pPr>
              <a:defRPr sz="950">
                <a:solidFill>
                  <a:srgbClr val="5F6C7D"/>
                </a:solidFill>
              </a:defRPr>
            </a:pPr>
            <a:r>
              <a:t>Trường Đại học Công nghệ – ĐHQGHN  |  Nhóm 13: Nguyễn Tuấn Sơn – Vũ Hữu Hoạt                                                                                     Slide 5 / 10</a:t>
            </a:r>
          </a:p>
        </p:txBody>
      </p:sp>
      <p:sp>
        <p:nvSpPr>
          <p:cNvPr id="6" name="Rounded Rectangle 5"/>
          <p:cNvSpPr/>
          <p:nvPr/>
        </p:nvSpPr>
        <p:spPr>
          <a:xfrm>
            <a:off x="594360" y="1234440"/>
            <a:ext cx="6080760" cy="5029200"/>
          </a:xfrm>
          <a:prstGeom prst="round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cb_layout_preview.png"/>
          <p:cNvPicPr>
            <a:picLocks noChangeAspect="1"/>
          </p:cNvPicPr>
          <p:nvPr/>
        </p:nvPicPr>
        <p:blipFill>
          <a:blip r:embed="rId2"/>
          <a:stretch>
            <a:fillRect/>
          </a:stretch>
        </p:blipFill>
        <p:spPr>
          <a:xfrm>
            <a:off x="704088" y="1719224"/>
            <a:ext cx="5861304" cy="3712159"/>
          </a:xfrm>
          <a:prstGeom prst="rect">
            <a:avLst/>
          </a:prstGeom>
        </p:spPr>
      </p:pic>
      <p:sp>
        <p:nvSpPr>
          <p:cNvPr id="8" name="TextBox 7"/>
          <p:cNvSpPr txBox="1"/>
          <p:nvPr/>
        </p:nvSpPr>
        <p:spPr>
          <a:xfrm>
            <a:off x="704088" y="5879592"/>
            <a:ext cx="5861304" cy="347472"/>
          </a:xfrm>
          <a:prstGeom prst="rect">
            <a:avLst/>
          </a:prstGeom>
          <a:noFill/>
        </p:spPr>
        <p:txBody>
          <a:bodyPr wrap="square">
            <a:spAutoFit/>
          </a:bodyPr>
          <a:lstStyle/>
          <a:p>
            <a:pPr algn="ctr">
              <a:defRPr sz="1000" b="1">
                <a:solidFill>
                  <a:srgbClr val="0B2347"/>
                </a:solidFill>
              </a:defRPr>
            </a:pPr>
            <a:r>
              <a:t>Hình 4.1: Sơ đồ bố trí các khối Header kết nối và đường mạch trên PCB trung tâm</a:t>
            </a:r>
          </a:p>
        </p:txBody>
      </p:sp>
      <p:sp>
        <p:nvSpPr>
          <p:cNvPr id="9" name="Rounded Rectangle 8"/>
          <p:cNvSpPr/>
          <p:nvPr/>
        </p:nvSpPr>
        <p:spPr>
          <a:xfrm>
            <a:off x="6858000" y="1234440"/>
            <a:ext cx="4736592" cy="5029200"/>
          </a:xfrm>
          <a:prstGeom prst="roundRect">
            <a:avLst/>
          </a:prstGeom>
          <a:solidFill>
            <a:srgbClr val="FFFFFF"/>
          </a:solidFill>
          <a:ln w="19050">
            <a:solidFill>
              <a:srgbClr val="105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59168" y="1399032"/>
            <a:ext cx="4334256" cy="4736592"/>
          </a:xfrm>
          <a:prstGeom prst="rect">
            <a:avLst/>
          </a:prstGeom>
          <a:noFill/>
        </p:spPr>
        <p:txBody>
          <a:bodyPr wrap="square" lIns="0" tIns="0" rIns="0" bIns="0">
            <a:spAutoFit/>
          </a:bodyPr>
          <a:lstStyle/>
          <a:p>
            <a:pPr>
              <a:spcAft>
                <a:spcPts val="300"/>
              </a:spcAft>
              <a:defRPr sz="1450" b="1">
                <a:solidFill>
                  <a:srgbClr val="10559A"/>
                </a:solidFill>
              </a:defRPr>
            </a:pPr>
            <a:r>
              <a:t>Chi tiết công việc thiết kế PCB đã hoàn thành</a:t>
            </a:r>
          </a:p>
          <a:p>
            <a:pPr>
              <a:spcAft>
                <a:spcPts val="700"/>
              </a:spcAft>
              <a:defRPr sz="1050">
                <a:solidFill>
                  <a:srgbClr val="5F6C7D"/>
                </a:solidFill>
              </a:defRPr>
            </a:pPr>
            <a:r>
              <a:t>Phụ trách chính: Vũ Hữu Hoạt</a:t>
            </a:r>
          </a:p>
          <a:p>
            <a:pPr>
              <a:spcAft>
                <a:spcPts val="450"/>
              </a:spcAft>
              <a:defRPr sz="1100">
                <a:solidFill>
                  <a:srgbClr val="141C28"/>
                </a:solidFill>
              </a:defRPr>
            </a:pPr>
            <a:r>
              <a:t>•  Khảo sát &amp; Đo đạc chân cắm thực tế: Đã đo chuẩn khoảng cách pitch 2.54mm của các cụm Header 6 chân (AS608), 8 chân (RC522), 8 chân (Keypad 4x4), 4 chân (LCD I2C) và Domino nguồn 12V.</a:t>
            </a:r>
          </a:p>
          <a:p>
            <a:pPr>
              <a:spcAft>
                <a:spcPts val="450"/>
              </a:spcAft>
              <a:defRPr sz="1100">
                <a:solidFill>
                  <a:srgbClr val="141C28"/>
                </a:solidFill>
              </a:defRPr>
            </a:pPr>
            <a:r>
              <a:t>•  Hoàn thiện Sơ đồ nguyên lý (Schematic): Liên kết toàn bộ các khối về ESP32, tích hợp khối nguồn hạ áp Buck 12V -&gt; 5V/3.3V và tầng kích khóa chốt.</a:t>
            </a:r>
          </a:p>
          <a:p>
            <a:pPr>
              <a:spcAft>
                <a:spcPts val="450"/>
              </a:spcAft>
              <a:defRPr sz="1100">
                <a:solidFill>
                  <a:srgbClr val="141C28"/>
                </a:solidFill>
              </a:defRPr>
            </a:pPr>
            <a:r>
              <a:t>•  Thiết kế Layout PCB 2 lớp:</a:t>
            </a:r>
          </a:p>
          <a:p>
            <a:pPr>
              <a:spcAft>
                <a:spcPts val="450"/>
              </a:spcAft>
              <a:defRPr sz="1100">
                <a:solidFill>
                  <a:srgbClr val="141C28"/>
                </a:solidFill>
              </a:defRPr>
            </a:pPr>
            <a:r>
              <a:t>•      • Đường mạch công suất 12V cấp cho khóa điện được đi dây độ rộng lớn (&gt; 40 mil) chịu dòng 1.5A.</a:t>
            </a:r>
          </a:p>
          <a:p>
            <a:pPr>
              <a:spcAft>
                <a:spcPts val="450"/>
              </a:spcAft>
              <a:defRPr sz="1100">
                <a:solidFill>
                  <a:srgbClr val="141C28"/>
                </a:solidFill>
              </a:defRPr>
            </a:pPr>
            <a:r>
              <a:t>•      • Phủ đồng mặt Mass (GND Copper Pour) cả 2 lớp giúp chống nhiễu sóng Wi-Fi và RFID 13.56MHz.</a:t>
            </a:r>
          </a:p>
          <a:p>
            <a:pPr>
              <a:spcAft>
                <a:spcPts val="450"/>
              </a:spcAft>
              <a:defRPr sz="1100">
                <a:solidFill>
                  <a:srgbClr val="141C28"/>
                </a:solidFill>
              </a:defRPr>
            </a:pPr>
            <a:r>
              <a:t>•      • Đã kiểm tra DRC (Design Rule Check) không còn lỗi và sẵn sàng gia công hàn mạch ở Giai đoạn 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105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9601200" cy="274320"/>
          </a:xfrm>
          <a:prstGeom prst="rect">
            <a:avLst/>
          </a:prstGeom>
          <a:noFill/>
        </p:spPr>
        <p:txBody>
          <a:bodyPr wrap="none" lIns="0" tIns="0" rIns="0" bIns="0">
            <a:spAutoFit/>
          </a:bodyPr>
          <a:lstStyle/>
          <a:p>
            <a:pPr>
              <a:defRPr sz="1050" b="1">
                <a:solidFill>
                  <a:srgbClr val="10559A"/>
                </a:solidFill>
              </a:defRPr>
            </a:pPr>
            <a:r>
              <a:t>BÁO CÁO TIẾN ĐỘ GIỮA KỲ — ĐỒ ÁN CƠ ĐIỆN TỬ (NHÓM 13)</a:t>
            </a:r>
          </a:p>
        </p:txBody>
      </p:sp>
      <p:sp>
        <p:nvSpPr>
          <p:cNvPr id="4" name="TextBox 3"/>
          <p:cNvSpPr txBox="1"/>
          <p:nvPr/>
        </p:nvSpPr>
        <p:spPr>
          <a:xfrm>
            <a:off x="594360" y="566928"/>
            <a:ext cx="10515600" cy="502920"/>
          </a:xfrm>
          <a:prstGeom prst="rect">
            <a:avLst/>
          </a:prstGeom>
          <a:noFill/>
        </p:spPr>
        <p:txBody>
          <a:bodyPr wrap="none" lIns="0" tIns="0" rIns="0" bIns="0">
            <a:spAutoFit/>
          </a:bodyPr>
          <a:lstStyle/>
          <a:p>
            <a:pPr>
              <a:defRPr sz="2100" b="1">
                <a:solidFill>
                  <a:srgbClr val="0B2347"/>
                </a:solidFill>
              </a:defRPr>
            </a:pPr>
            <a:r>
              <a:t>5. Kiến trúc Firmware ESP32 &amp; Cơ chế Bảo mật 1 Lớp / 2 Lớp (2FA)</a:t>
            </a:r>
          </a:p>
        </p:txBody>
      </p:sp>
      <p:sp>
        <p:nvSpPr>
          <p:cNvPr id="5" name="TextBox 4"/>
          <p:cNvSpPr txBox="1"/>
          <p:nvPr/>
        </p:nvSpPr>
        <p:spPr>
          <a:xfrm>
            <a:off x="594360" y="6446520"/>
            <a:ext cx="10972800" cy="274320"/>
          </a:xfrm>
          <a:prstGeom prst="rect">
            <a:avLst/>
          </a:prstGeom>
          <a:noFill/>
        </p:spPr>
        <p:txBody>
          <a:bodyPr wrap="none">
            <a:spAutoFit/>
          </a:bodyPr>
          <a:lstStyle/>
          <a:p>
            <a:pPr>
              <a:defRPr sz="950">
                <a:solidFill>
                  <a:srgbClr val="5F6C7D"/>
                </a:solidFill>
              </a:defRPr>
            </a:pPr>
            <a:r>
              <a:t>Trường Đại học Công nghệ – ĐHQGHN  |  Nhóm 13: Nguyễn Tuấn Sơn – Vũ Hữu Hoạt                                                                                     Slide 6 / 10</a:t>
            </a:r>
          </a:p>
        </p:txBody>
      </p:sp>
      <p:sp>
        <p:nvSpPr>
          <p:cNvPr id="6" name="Rounded Rectangle 5"/>
          <p:cNvSpPr/>
          <p:nvPr/>
        </p:nvSpPr>
        <p:spPr>
          <a:xfrm>
            <a:off x="594360" y="1234440"/>
            <a:ext cx="5303520" cy="5029200"/>
          </a:xfrm>
          <a:prstGeom prst="roundRect">
            <a:avLst/>
          </a:prstGeom>
          <a:solidFill>
            <a:srgbClr val="F6F8FB"/>
          </a:solidFill>
          <a:ln w="1270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399032"/>
            <a:ext cx="4901184" cy="4736592"/>
          </a:xfrm>
          <a:prstGeom prst="rect">
            <a:avLst/>
          </a:prstGeom>
          <a:noFill/>
        </p:spPr>
        <p:txBody>
          <a:bodyPr wrap="square" lIns="0" tIns="0" rIns="0" bIns="0">
            <a:spAutoFit/>
          </a:bodyPr>
          <a:lstStyle/>
          <a:p>
            <a:pPr>
              <a:spcAft>
                <a:spcPts val="300"/>
              </a:spcAft>
              <a:defRPr sz="1450" b="1">
                <a:solidFill>
                  <a:srgbClr val="0B2347"/>
                </a:solidFill>
              </a:defRPr>
            </a:pPr>
            <a:r>
              <a:t>Kiến trúc Phần mềm nhúng ESP32 (PlatformIO)</a:t>
            </a:r>
          </a:p>
          <a:p>
            <a:pPr>
              <a:spcAft>
                <a:spcPts val="700"/>
              </a:spcAft>
              <a:defRPr sz="1050">
                <a:solidFill>
                  <a:srgbClr val="5F6C7D"/>
                </a:solidFill>
              </a:defRPr>
            </a:pPr>
            <a:r>
              <a:t>Phụ trách chính: Nguyễn Tuấn Sơn</a:t>
            </a:r>
          </a:p>
          <a:p>
            <a:pPr>
              <a:spcAft>
                <a:spcPts val="450"/>
              </a:spcAft>
              <a:defRPr sz="1150">
                <a:solidFill>
                  <a:srgbClr val="141C28"/>
                </a:solidFill>
              </a:defRPr>
            </a:pPr>
            <a:r>
              <a:t>•  Vòng lặp Non-blocking (Không chặn):</a:t>
            </a:r>
          </a:p>
          <a:p>
            <a:pPr>
              <a:spcAft>
                <a:spcPts val="450"/>
              </a:spcAft>
              <a:defRPr sz="1150">
                <a:solidFill>
                  <a:srgbClr val="141C28"/>
                </a:solidFill>
              </a:defRPr>
            </a:pPr>
            <a:r>
              <a:t>•      • Không sử dụng delay() dài gây đơ phím; dùng millis() quét Keypad 4x4 liên tục (&lt; 5ms) và quét AS608/RC522 mỗi 80ms.</a:t>
            </a:r>
          </a:p>
          <a:p>
            <a:pPr>
              <a:spcAft>
                <a:spcPts val="450"/>
              </a:spcAft>
              <a:defRPr sz="1150">
                <a:solidFill>
                  <a:srgbClr val="141C28"/>
                </a:solidFill>
              </a:defRPr>
            </a:pPr>
            <a:r>
              <a:t>•  Hệ thống tệp Flash LittleFS bền vững:</a:t>
            </a:r>
          </a:p>
          <a:p>
            <a:pPr>
              <a:spcAft>
                <a:spcPts val="450"/>
              </a:spcAft>
              <a:defRPr sz="1150">
                <a:solidFill>
                  <a:srgbClr val="141C28"/>
                </a:solidFill>
              </a:defRPr>
            </a:pPr>
            <a:r>
              <a:t>•      • Lưu trữ toàn bộ file giao diện Web (index.html, style.css, app.js) và cơ sở dữ liệu config.json ngay trong bộ nhớ Flash 4MB của ESP32.</a:t>
            </a:r>
          </a:p>
          <a:p>
            <a:pPr>
              <a:spcAft>
                <a:spcPts val="450"/>
              </a:spcAft>
              <a:defRPr sz="1150">
                <a:solidFill>
                  <a:srgbClr val="141C28"/>
                </a:solidFill>
              </a:defRPr>
            </a:pPr>
            <a:r>
              <a:t>•      • Mất điện không bị mất mật khẩu PIN, danh sách thẻ RFID hay ID vân tay.</a:t>
            </a:r>
          </a:p>
          <a:p>
            <a:pPr>
              <a:spcAft>
                <a:spcPts val="450"/>
              </a:spcAft>
              <a:defRPr sz="1150">
                <a:solidFill>
                  <a:srgbClr val="141C28"/>
                </a:solidFill>
              </a:defRPr>
            </a:pPr>
            <a:r>
              <a:t>•  Giao thức WebSocket (/ws) &amp; mDNS:</a:t>
            </a:r>
          </a:p>
          <a:p>
            <a:pPr>
              <a:spcAft>
                <a:spcPts val="450"/>
              </a:spcAft>
              <a:defRPr sz="1150">
                <a:solidFill>
                  <a:srgbClr val="141C28"/>
                </a:solidFill>
              </a:defRPr>
            </a:pPr>
            <a:r>
              <a:t>•      • Đồng bộ trạng thái cửa và màn hình LCD 16x2 lên trình duyệt dưới 100ms.</a:t>
            </a:r>
          </a:p>
          <a:p>
            <a:pPr>
              <a:spcAft>
                <a:spcPts val="450"/>
              </a:spcAft>
              <a:defRPr sz="1150">
                <a:solidFill>
                  <a:srgbClr val="141C28"/>
                </a:solidFill>
              </a:defRPr>
            </a:pPr>
            <a:r>
              <a:t>•      • Tích hợp tên miền nội bộ http://smartdoor.local.</a:t>
            </a:r>
          </a:p>
        </p:txBody>
      </p:sp>
      <p:sp>
        <p:nvSpPr>
          <p:cNvPr id="8" name="Rounded Rectangle 7"/>
          <p:cNvSpPr/>
          <p:nvPr/>
        </p:nvSpPr>
        <p:spPr>
          <a:xfrm>
            <a:off x="6108192" y="1234440"/>
            <a:ext cx="5486400" cy="5029200"/>
          </a:xfrm>
          <a:prstGeom prst="roundRect">
            <a:avLst/>
          </a:prstGeom>
          <a:solidFill>
            <a:srgbClr val="FFFFFF"/>
          </a:solidFill>
          <a:ln w="19050">
            <a:solidFill>
              <a:srgbClr val="105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399032"/>
            <a:ext cx="5084064" cy="4736592"/>
          </a:xfrm>
          <a:prstGeom prst="rect">
            <a:avLst/>
          </a:prstGeom>
          <a:noFill/>
        </p:spPr>
        <p:txBody>
          <a:bodyPr wrap="square" lIns="0" tIns="0" rIns="0" bIns="0">
            <a:spAutoFit/>
          </a:bodyPr>
          <a:lstStyle/>
          <a:p>
            <a:pPr>
              <a:spcAft>
                <a:spcPts val="300"/>
              </a:spcAft>
              <a:defRPr sz="1450" b="1">
                <a:solidFill>
                  <a:srgbClr val="10559A"/>
                </a:solidFill>
              </a:defRPr>
            </a:pPr>
            <a:r>
              <a:t>Cơ chế Bảo mật Đa cấp độ (1 Lớp &amp; 2FA) mới phát triển</a:t>
            </a:r>
          </a:p>
          <a:p>
            <a:pPr>
              <a:spcAft>
                <a:spcPts val="700"/>
              </a:spcAft>
              <a:defRPr sz="1050">
                <a:solidFill>
                  <a:srgbClr val="5F6C7D"/>
                </a:solidFill>
              </a:defRPr>
            </a:pPr>
            <a:r>
              <a:t>Nâng cao tính bảo mật cho phòng thí nghiệm &amp; khu vực quan trọng</a:t>
            </a:r>
          </a:p>
          <a:p>
            <a:pPr>
              <a:spcAft>
                <a:spcPts val="450"/>
              </a:spcAft>
              <a:defRPr sz="1150">
                <a:solidFill>
                  <a:srgbClr val="141C28"/>
                </a:solidFill>
              </a:defRPr>
            </a:pPr>
            <a:r>
              <a:t>•  Chế độ 1 Lớp (Single-Factor): Quét Vân tay đúng HOẶC Thẻ RFID đúng HOẶC nhập đúng PIN Keypad 4x4 là mở cửa ngay.</a:t>
            </a:r>
          </a:p>
          <a:p>
            <a:pPr>
              <a:spcAft>
                <a:spcPts val="450"/>
              </a:spcAft>
              <a:defRPr sz="1150">
                <a:solidFill>
                  <a:srgbClr val="141C28"/>
                </a:solidFill>
              </a:defRPr>
            </a:pPr>
            <a:r>
              <a:t>•  Chế độ 2 Lớp (Two-Factor Authentication - 2FA): Yêu cầu xác thực thành công 2 bước liên tiếp trong thời gian quy định:</a:t>
            </a:r>
          </a:p>
          <a:p>
            <a:pPr>
              <a:spcAft>
                <a:spcPts val="450"/>
              </a:spcAft>
              <a:defRPr sz="1150">
                <a:solidFill>
                  <a:srgbClr val="141C28"/>
                </a:solidFill>
              </a:defRPr>
            </a:pPr>
            <a:r>
              <a:t>•      • Chế độ 2: Vân tay AS608  +  Mã PIN Keypad 4x4</a:t>
            </a:r>
          </a:p>
          <a:p>
            <a:pPr>
              <a:spcAft>
                <a:spcPts val="450"/>
              </a:spcAft>
              <a:defRPr sz="1150">
                <a:solidFill>
                  <a:srgbClr val="141C28"/>
                </a:solidFill>
              </a:defRPr>
            </a:pPr>
            <a:r>
              <a:t>•      • Chế độ 3: Thẻ từ RFID RC522  +  Mã PIN Keypad 4x4</a:t>
            </a:r>
          </a:p>
          <a:p>
            <a:pPr>
              <a:spcAft>
                <a:spcPts val="450"/>
              </a:spcAft>
              <a:defRPr sz="1150">
                <a:solidFill>
                  <a:srgbClr val="141C28"/>
                </a:solidFill>
              </a:defRPr>
            </a:pPr>
            <a:r>
              <a:t>•      • Chế độ 4: Vân tay AS608  +  Thẻ từ RFID RC522</a:t>
            </a:r>
          </a:p>
          <a:p>
            <a:pPr>
              <a:spcAft>
                <a:spcPts val="450"/>
              </a:spcAft>
              <a:defRPr sz="1150">
                <a:solidFill>
                  <a:srgbClr val="141C28"/>
                </a:solidFill>
              </a:defRPr>
            </a:pPr>
            <a:r>
              <a:t>•  Cơ chế chống treo phiên (Session Timeout 15 giây):</a:t>
            </a:r>
          </a:p>
          <a:p>
            <a:pPr>
              <a:spcAft>
                <a:spcPts val="450"/>
              </a:spcAft>
              <a:defRPr sz="1150">
                <a:solidFill>
                  <a:srgbClr val="141C28"/>
                </a:solidFill>
              </a:defRPr>
            </a:pPr>
            <a:r>
              <a:t>•      • Khi qua Lớp 1, màn hình LCD hiển thị 'XAC THUC LOP 1 OK - NHAP PIN + #'. Nếu quá 15 giây không hoàn thành Lớp 2 hoặc nhập sai, hệ thống tự hủy phiên và khóa an toàn.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105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9601200" cy="274320"/>
          </a:xfrm>
          <a:prstGeom prst="rect">
            <a:avLst/>
          </a:prstGeom>
          <a:noFill/>
        </p:spPr>
        <p:txBody>
          <a:bodyPr wrap="none" lIns="0" tIns="0" rIns="0" bIns="0">
            <a:spAutoFit/>
          </a:bodyPr>
          <a:lstStyle/>
          <a:p>
            <a:pPr>
              <a:defRPr sz="1050" b="1">
                <a:solidFill>
                  <a:srgbClr val="10559A"/>
                </a:solidFill>
              </a:defRPr>
            </a:pPr>
            <a:r>
              <a:t>BÁO CÁO TIẾN ĐỘ GIỮA KỲ — ĐỒ ÁN CƠ ĐIỆN TỬ (NHÓM 13)</a:t>
            </a:r>
          </a:p>
        </p:txBody>
      </p:sp>
      <p:sp>
        <p:nvSpPr>
          <p:cNvPr id="4" name="TextBox 3"/>
          <p:cNvSpPr txBox="1"/>
          <p:nvPr/>
        </p:nvSpPr>
        <p:spPr>
          <a:xfrm>
            <a:off x="594360" y="566928"/>
            <a:ext cx="10515600" cy="502920"/>
          </a:xfrm>
          <a:prstGeom prst="rect">
            <a:avLst/>
          </a:prstGeom>
          <a:noFill/>
        </p:spPr>
        <p:txBody>
          <a:bodyPr wrap="none" lIns="0" tIns="0" rIns="0" bIns="0">
            <a:spAutoFit/>
          </a:bodyPr>
          <a:lstStyle/>
          <a:p>
            <a:pPr>
              <a:defRPr sz="2100" b="1">
                <a:solidFill>
                  <a:srgbClr val="0B2347"/>
                </a:solidFill>
              </a:defRPr>
            </a:pPr>
            <a:r>
              <a:t>6. Kết quả xây dựng Giao diện Web App Quản lý (Nguyễn Tuấn Sơn)</a:t>
            </a:r>
          </a:p>
        </p:txBody>
      </p:sp>
      <p:sp>
        <p:nvSpPr>
          <p:cNvPr id="5" name="TextBox 4"/>
          <p:cNvSpPr txBox="1"/>
          <p:nvPr/>
        </p:nvSpPr>
        <p:spPr>
          <a:xfrm>
            <a:off x="594360" y="6446520"/>
            <a:ext cx="10972800" cy="274320"/>
          </a:xfrm>
          <a:prstGeom prst="rect">
            <a:avLst/>
          </a:prstGeom>
          <a:noFill/>
        </p:spPr>
        <p:txBody>
          <a:bodyPr wrap="none">
            <a:spAutoFit/>
          </a:bodyPr>
          <a:lstStyle/>
          <a:p>
            <a:pPr>
              <a:defRPr sz="950">
                <a:solidFill>
                  <a:srgbClr val="5F6C7D"/>
                </a:solidFill>
              </a:defRPr>
            </a:pPr>
            <a:r>
              <a:t>Trường Đại học Công nghệ – ĐHQGHN  |  Nhóm 13: Nguyễn Tuấn Sơn – Vũ Hữu Hoạt                                                                                     Slide 7 / 10</a:t>
            </a:r>
          </a:p>
        </p:txBody>
      </p:sp>
      <p:sp>
        <p:nvSpPr>
          <p:cNvPr id="6" name="Rounded Rectangle 5"/>
          <p:cNvSpPr/>
          <p:nvPr/>
        </p:nvSpPr>
        <p:spPr>
          <a:xfrm>
            <a:off x="594360" y="1234440"/>
            <a:ext cx="6720840" cy="5029200"/>
          </a:xfrm>
          <a:prstGeom prst="round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eb_dashboard.png"/>
          <p:cNvPicPr>
            <a:picLocks noChangeAspect="1"/>
          </p:cNvPicPr>
          <p:nvPr/>
        </p:nvPicPr>
        <p:blipFill>
          <a:blip r:embed="rId2"/>
          <a:stretch>
            <a:fillRect/>
          </a:stretch>
        </p:blipFill>
        <p:spPr>
          <a:xfrm>
            <a:off x="704088" y="1532012"/>
            <a:ext cx="6501384" cy="4086584"/>
          </a:xfrm>
          <a:prstGeom prst="rect">
            <a:avLst/>
          </a:prstGeom>
        </p:spPr>
      </p:pic>
      <p:sp>
        <p:nvSpPr>
          <p:cNvPr id="8" name="TextBox 7"/>
          <p:cNvSpPr txBox="1"/>
          <p:nvPr/>
        </p:nvSpPr>
        <p:spPr>
          <a:xfrm>
            <a:off x="704088" y="5879592"/>
            <a:ext cx="6501384" cy="347472"/>
          </a:xfrm>
          <a:prstGeom prst="rect">
            <a:avLst/>
          </a:prstGeom>
          <a:noFill/>
        </p:spPr>
        <p:txBody>
          <a:bodyPr wrap="square">
            <a:spAutoFit/>
          </a:bodyPr>
          <a:lstStyle/>
          <a:p>
            <a:pPr algn="ctr">
              <a:defRPr sz="1000" b="1">
                <a:solidFill>
                  <a:srgbClr val="0B2347"/>
                </a:solidFill>
              </a:defRPr>
            </a:pPr>
            <a:r>
              <a:t>Hình 6.1: Giao diện Web App thực tế (Thiết kế tối giản Shadcn UI, rõ ràng, dễ thao tác)</a:t>
            </a:r>
          </a:p>
        </p:txBody>
      </p:sp>
      <p:sp>
        <p:nvSpPr>
          <p:cNvPr id="9" name="Rounded Rectangle 8"/>
          <p:cNvSpPr/>
          <p:nvPr/>
        </p:nvSpPr>
        <p:spPr>
          <a:xfrm>
            <a:off x="7498079" y="1234440"/>
            <a:ext cx="4096512" cy="5029200"/>
          </a:xfrm>
          <a:prstGeom prst="roundRect">
            <a:avLst/>
          </a:prstGeom>
          <a:solidFill>
            <a:srgbClr val="FFFFFF"/>
          </a:solidFill>
          <a:ln w="19050">
            <a:solidFill>
              <a:srgbClr val="105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99247" y="1399032"/>
            <a:ext cx="3694176" cy="4736592"/>
          </a:xfrm>
          <a:prstGeom prst="rect">
            <a:avLst/>
          </a:prstGeom>
          <a:noFill/>
        </p:spPr>
        <p:txBody>
          <a:bodyPr wrap="square" lIns="0" tIns="0" rIns="0" bIns="0">
            <a:spAutoFit/>
          </a:bodyPr>
          <a:lstStyle/>
          <a:p>
            <a:pPr>
              <a:spcAft>
                <a:spcPts val="300"/>
              </a:spcAft>
              <a:defRPr sz="1450" b="1">
                <a:solidFill>
                  <a:srgbClr val="10559A"/>
                </a:solidFill>
              </a:defRPr>
            </a:pPr>
            <a:r>
              <a:t>Các tính năng đã hoàn thiện trên Web</a:t>
            </a:r>
          </a:p>
          <a:p>
            <a:pPr>
              <a:spcAft>
                <a:spcPts val="700"/>
              </a:spcAft>
              <a:defRPr sz="1050">
                <a:solidFill>
                  <a:srgbClr val="5F6C7D"/>
                </a:solidFill>
              </a:defRPr>
            </a:pPr>
            <a:r>
              <a:t>Hoạt động trên cả Điện thoại &amp; Máy tính</a:t>
            </a:r>
          </a:p>
          <a:p>
            <a:pPr>
              <a:spcAft>
                <a:spcPts val="450"/>
              </a:spcAft>
              <a:defRPr sz="1080">
                <a:solidFill>
                  <a:srgbClr val="141C28"/>
                </a:solidFill>
              </a:defRPr>
            </a:pPr>
            <a:r>
              <a:t>•  1. Bảng điều khiển (Dashboard):</a:t>
            </a:r>
          </a:p>
          <a:p>
            <a:pPr>
              <a:spcAft>
                <a:spcPts val="450"/>
              </a:spcAft>
              <a:defRPr sz="1080">
                <a:solidFill>
                  <a:srgbClr val="141C28"/>
                </a:solidFill>
              </a:defRPr>
            </a:pPr>
            <a:r>
              <a:t>•      • Hiển thị trạng thái khóa 12V trực quan &amp; đếm ngược thời gian tự đóng.</a:t>
            </a:r>
          </a:p>
          <a:p>
            <a:pPr>
              <a:spcAft>
                <a:spcPts val="450"/>
              </a:spcAft>
              <a:defRPr sz="1080">
                <a:solidFill>
                  <a:srgbClr val="141C28"/>
                </a:solidFill>
              </a:defRPr>
            </a:pPr>
            <a:r>
              <a:t>•      • Nút nhấn Mở khóa từ xa &amp; Khóa khẩn cấp qua Wi-Fi.</a:t>
            </a:r>
          </a:p>
          <a:p>
            <a:pPr>
              <a:spcAft>
                <a:spcPts val="450"/>
              </a:spcAft>
              <a:defRPr sz="1080">
                <a:solidFill>
                  <a:srgbClr val="141C28"/>
                </a:solidFill>
              </a:defRPr>
            </a:pPr>
            <a:r>
              <a:t>•      • Màn hình LCD 16x2 Live Mirror phản chiếu chính xác từng dòng chữ tại cửa.</a:t>
            </a:r>
          </a:p>
          <a:p>
            <a:pPr>
              <a:spcAft>
                <a:spcPts val="450"/>
              </a:spcAft>
              <a:defRPr sz="1080">
                <a:solidFill>
                  <a:srgbClr val="141C28"/>
                </a:solidFill>
              </a:defRPr>
            </a:pPr>
            <a:r>
              <a:t>•  2. Nhật ký lịch sử ra vào:</a:t>
            </a:r>
          </a:p>
          <a:p>
            <a:pPr>
              <a:spcAft>
                <a:spcPts val="450"/>
              </a:spcAft>
              <a:defRPr sz="1080">
                <a:solidFill>
                  <a:srgbClr val="141C28"/>
                </a:solidFill>
              </a:defRPr>
            </a:pPr>
            <a:r>
              <a:t>•      • Ghi nhận Thời gian thực, Phương thức, Tên người dùng, Trạng thái Hợp lệ/Từ chối.</a:t>
            </a:r>
          </a:p>
          <a:p>
            <a:pPr>
              <a:spcAft>
                <a:spcPts val="450"/>
              </a:spcAft>
              <a:defRPr sz="1080">
                <a:solidFill>
                  <a:srgbClr val="141C28"/>
                </a:solidFill>
              </a:defRPr>
            </a:pPr>
            <a:r>
              <a:t>•      • Hỗ trợ lọc theo phương thức và Xuất file .CSV phục vụ báo cáo.</a:t>
            </a:r>
          </a:p>
          <a:p>
            <a:pPr>
              <a:spcAft>
                <a:spcPts val="450"/>
              </a:spcAft>
              <a:defRPr sz="1080">
                <a:solidFill>
                  <a:srgbClr val="141C28"/>
                </a:solidFill>
              </a:defRPr>
            </a:pPr>
            <a:r>
              <a:t>•  3. Quản lý Vân tay &amp; Thẻ RFID:</a:t>
            </a:r>
          </a:p>
          <a:p>
            <a:pPr>
              <a:spcAft>
                <a:spcPts val="450"/>
              </a:spcAft>
              <a:defRPr sz="1080">
                <a:solidFill>
                  <a:srgbClr val="141C28"/>
                </a:solidFill>
              </a:defRPr>
            </a:pPr>
            <a:r>
              <a:t>•      • Đăng ký mẫu vân tay mới và Quét thêm thẻ RFID trực tiếp từ giao diện Web.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105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9601200" cy="274320"/>
          </a:xfrm>
          <a:prstGeom prst="rect">
            <a:avLst/>
          </a:prstGeom>
          <a:noFill/>
        </p:spPr>
        <p:txBody>
          <a:bodyPr wrap="none" lIns="0" tIns="0" rIns="0" bIns="0">
            <a:spAutoFit/>
          </a:bodyPr>
          <a:lstStyle/>
          <a:p>
            <a:pPr>
              <a:defRPr sz="1050" b="1">
                <a:solidFill>
                  <a:srgbClr val="10559A"/>
                </a:solidFill>
              </a:defRPr>
            </a:pPr>
            <a:r>
              <a:t>BÁO CÁO TIẾN ĐỘ GIỮA KỲ — ĐỒ ÁN CƠ ĐIỆN TỬ (NHÓM 13)</a:t>
            </a:r>
          </a:p>
        </p:txBody>
      </p:sp>
      <p:sp>
        <p:nvSpPr>
          <p:cNvPr id="4" name="TextBox 3"/>
          <p:cNvSpPr txBox="1"/>
          <p:nvPr/>
        </p:nvSpPr>
        <p:spPr>
          <a:xfrm>
            <a:off x="594360" y="566928"/>
            <a:ext cx="10515600" cy="502920"/>
          </a:xfrm>
          <a:prstGeom prst="rect">
            <a:avLst/>
          </a:prstGeom>
          <a:noFill/>
        </p:spPr>
        <p:txBody>
          <a:bodyPr wrap="none" lIns="0" tIns="0" rIns="0" bIns="0">
            <a:spAutoFit/>
          </a:bodyPr>
          <a:lstStyle/>
          <a:p>
            <a:pPr>
              <a:defRPr sz="2100" b="1">
                <a:solidFill>
                  <a:srgbClr val="0B2347"/>
                </a:solidFill>
              </a:defRPr>
            </a:pPr>
            <a:r>
              <a:t>7. Triển khai Cloud Vercel &amp; Bộ giả lập phần cứng kiểm thử</a:t>
            </a:r>
          </a:p>
        </p:txBody>
      </p:sp>
      <p:sp>
        <p:nvSpPr>
          <p:cNvPr id="5" name="TextBox 4"/>
          <p:cNvSpPr txBox="1"/>
          <p:nvPr/>
        </p:nvSpPr>
        <p:spPr>
          <a:xfrm>
            <a:off x="594360" y="6446520"/>
            <a:ext cx="10972800" cy="274320"/>
          </a:xfrm>
          <a:prstGeom prst="rect">
            <a:avLst/>
          </a:prstGeom>
          <a:noFill/>
        </p:spPr>
        <p:txBody>
          <a:bodyPr wrap="none">
            <a:spAutoFit/>
          </a:bodyPr>
          <a:lstStyle/>
          <a:p>
            <a:pPr>
              <a:defRPr sz="950">
                <a:solidFill>
                  <a:srgbClr val="5F6C7D"/>
                </a:solidFill>
              </a:defRPr>
            </a:pPr>
            <a:r>
              <a:t>Trường Đại học Công nghệ – ĐHQGHN  |  Nhóm 13: Nguyễn Tuấn Sơn – Vũ Hữu Hoạt                                                                                     Slide 8 / 10</a:t>
            </a:r>
          </a:p>
        </p:txBody>
      </p:sp>
      <p:sp>
        <p:nvSpPr>
          <p:cNvPr id="6" name="Rounded Rectangle 5"/>
          <p:cNvSpPr/>
          <p:nvPr/>
        </p:nvSpPr>
        <p:spPr>
          <a:xfrm>
            <a:off x="594360" y="1234440"/>
            <a:ext cx="6720840" cy="5029200"/>
          </a:xfrm>
          <a:prstGeom prst="round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vercel_deploy.png"/>
          <p:cNvPicPr>
            <a:picLocks noChangeAspect="1"/>
          </p:cNvPicPr>
          <p:nvPr/>
        </p:nvPicPr>
        <p:blipFill>
          <a:blip r:embed="rId2"/>
          <a:stretch>
            <a:fillRect/>
          </a:stretch>
        </p:blipFill>
        <p:spPr>
          <a:xfrm>
            <a:off x="704088" y="1749964"/>
            <a:ext cx="6501384" cy="3650679"/>
          </a:xfrm>
          <a:prstGeom prst="rect">
            <a:avLst/>
          </a:prstGeom>
        </p:spPr>
      </p:pic>
      <p:sp>
        <p:nvSpPr>
          <p:cNvPr id="8" name="TextBox 7"/>
          <p:cNvSpPr txBox="1"/>
          <p:nvPr/>
        </p:nvSpPr>
        <p:spPr>
          <a:xfrm>
            <a:off x="704088" y="5879592"/>
            <a:ext cx="6501384" cy="347472"/>
          </a:xfrm>
          <a:prstGeom prst="rect">
            <a:avLst/>
          </a:prstGeom>
          <a:noFill/>
        </p:spPr>
        <p:txBody>
          <a:bodyPr wrap="square">
            <a:spAutoFit/>
          </a:bodyPr>
          <a:lstStyle/>
          <a:p>
            <a:pPr algn="ctr">
              <a:defRPr sz="1000" b="1">
                <a:solidFill>
                  <a:srgbClr val="0B2347"/>
                </a:solidFill>
              </a:defRPr>
            </a:pPr>
            <a:r>
              <a:t>Hình 7.1: Hệ thống mã nguồn trên GitHub đã được triển khai thành công lên tên miền Vercel</a:t>
            </a:r>
          </a:p>
        </p:txBody>
      </p:sp>
      <p:sp>
        <p:nvSpPr>
          <p:cNvPr id="9" name="Rounded Rectangle 8"/>
          <p:cNvSpPr/>
          <p:nvPr/>
        </p:nvSpPr>
        <p:spPr>
          <a:xfrm>
            <a:off x="7498079" y="1234440"/>
            <a:ext cx="4096512" cy="5029200"/>
          </a:xfrm>
          <a:prstGeom prst="roundRect">
            <a:avLst/>
          </a:prstGeom>
          <a:solidFill>
            <a:srgbClr val="FFFFFF"/>
          </a:solidFill>
          <a:ln w="19050">
            <a:solidFill>
              <a:srgbClr val="105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99247" y="1399032"/>
            <a:ext cx="3694176" cy="4736592"/>
          </a:xfrm>
          <a:prstGeom prst="rect">
            <a:avLst/>
          </a:prstGeom>
          <a:noFill/>
        </p:spPr>
        <p:txBody>
          <a:bodyPr wrap="square" lIns="0" tIns="0" rIns="0" bIns="0">
            <a:spAutoFit/>
          </a:bodyPr>
          <a:lstStyle/>
          <a:p>
            <a:pPr>
              <a:spcAft>
                <a:spcPts val="300"/>
              </a:spcAft>
              <a:defRPr sz="1450" b="1">
                <a:solidFill>
                  <a:srgbClr val="10559A"/>
                </a:solidFill>
              </a:defRPr>
            </a:pPr>
            <a:r>
              <a:t>Kiểm thử độc lập &amp; Tên miền truy cập</a:t>
            </a:r>
          </a:p>
          <a:p>
            <a:pPr>
              <a:spcAft>
                <a:spcPts val="700"/>
              </a:spcAft>
              <a:defRPr sz="1050">
                <a:solidFill>
                  <a:srgbClr val="5F6C7D"/>
                </a:solidFill>
              </a:defRPr>
            </a:pPr>
            <a:r>
              <a:t>Sẵn sàng chạy Demo trực tiếp ngay trong buổi báo cáo</a:t>
            </a:r>
          </a:p>
          <a:p>
            <a:pPr>
              <a:spcAft>
                <a:spcPts val="450"/>
              </a:spcAft>
              <a:defRPr sz="1100">
                <a:solidFill>
                  <a:srgbClr val="141C28"/>
                </a:solidFill>
              </a:defRPr>
            </a:pPr>
            <a:r>
              <a:t>•  Kho mã nguồn GitHub của nhóm:</a:t>
            </a:r>
          </a:p>
          <a:p>
            <a:pPr>
              <a:spcAft>
                <a:spcPts val="450"/>
              </a:spcAft>
              <a:defRPr sz="1100">
                <a:solidFill>
                  <a:srgbClr val="141C28"/>
                </a:solidFill>
              </a:defRPr>
            </a:pPr>
            <a:r>
              <a:t>•      • github.com/tuansonuet197/smartdoor-nhom13</a:t>
            </a:r>
          </a:p>
          <a:p>
            <a:pPr>
              <a:spcAft>
                <a:spcPts val="450"/>
              </a:spcAft>
              <a:defRPr sz="1100">
                <a:solidFill>
                  <a:srgbClr val="141C28"/>
                </a:solidFill>
              </a:defRPr>
            </a:pPr>
            <a:r>
              <a:t>•  Tên miền Web App trực tuyến (Vercel):</a:t>
            </a:r>
          </a:p>
          <a:p>
            <a:pPr>
              <a:spcAft>
                <a:spcPts val="450"/>
              </a:spcAft>
              <a:defRPr sz="1100">
                <a:solidFill>
                  <a:srgbClr val="141C28"/>
                </a:solidFill>
              </a:defRPr>
            </a:pPr>
            <a:r>
              <a:t>•      • smartdoor-nhom13-data.vercel.app</a:t>
            </a:r>
          </a:p>
          <a:p>
            <a:pPr>
              <a:spcAft>
                <a:spcPts val="450"/>
              </a:spcAft>
              <a:defRPr sz="1100">
                <a:solidFill>
                  <a:srgbClr val="141C28"/>
                </a:solidFill>
              </a:defRPr>
            </a:pPr>
            <a:r>
              <a:t>•  Tên miền cục bộ khi chạy trên ESP32:</a:t>
            </a:r>
          </a:p>
          <a:p>
            <a:pPr>
              <a:spcAft>
                <a:spcPts val="450"/>
              </a:spcAft>
              <a:defRPr sz="1100">
                <a:solidFill>
                  <a:srgbClr val="141C28"/>
                </a:solidFill>
              </a:defRPr>
            </a:pPr>
            <a:r>
              <a:t>•      • http://smartdoor.local (mDNS)</a:t>
            </a:r>
          </a:p>
          <a:p>
            <a:pPr>
              <a:spcAft>
                <a:spcPts val="450"/>
              </a:spcAft>
              <a:defRPr sz="1100">
                <a:solidFill>
                  <a:srgbClr val="141C28"/>
                </a:solidFill>
              </a:defRPr>
            </a:pPr>
            <a:r>
              <a:t>•  Bộ giả lập phần cứng (Draggable Simulator):</a:t>
            </a:r>
          </a:p>
          <a:p>
            <a:pPr>
              <a:spcAft>
                <a:spcPts val="450"/>
              </a:spcAft>
              <a:defRPr sz="1100">
                <a:solidFill>
                  <a:srgbClr val="141C28"/>
                </a:solidFill>
              </a:defRPr>
            </a:pPr>
            <a:r>
              <a:t>•      • Tích hợp sẵn bảng giả lập kéo-thả tự do trên góc màn hình Web.</a:t>
            </a:r>
          </a:p>
          <a:p>
            <a:pPr>
              <a:spcAft>
                <a:spcPts val="450"/>
              </a:spcAft>
              <a:defRPr sz="1100">
                <a:solidFill>
                  <a:srgbClr val="141C28"/>
                </a:solidFill>
              </a:defRPr>
            </a:pPr>
            <a:r>
              <a:t>•      • Cho phép bấm thử Bàn phím 4x4 ảo, giả lập quét Vân tay đúng/sai, quẹt Thẻ RFID đúng/lạ để kiểm chứng toàn bộ luồng logic 1 lớp &amp; 2FA trước khi hàn mạch.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105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9601200" cy="274320"/>
          </a:xfrm>
          <a:prstGeom prst="rect">
            <a:avLst/>
          </a:prstGeom>
          <a:noFill/>
        </p:spPr>
        <p:txBody>
          <a:bodyPr wrap="none" lIns="0" tIns="0" rIns="0" bIns="0">
            <a:spAutoFit/>
          </a:bodyPr>
          <a:lstStyle/>
          <a:p>
            <a:pPr>
              <a:defRPr sz="1050" b="1">
                <a:solidFill>
                  <a:srgbClr val="10559A"/>
                </a:solidFill>
              </a:defRPr>
            </a:pPr>
            <a:r>
              <a:t>BÁO CÁO TIẾN ĐỘ GIỮA KỲ — ĐỒ ÁN CƠ ĐIỆN TỬ (NHÓM 13)</a:t>
            </a:r>
          </a:p>
        </p:txBody>
      </p:sp>
      <p:sp>
        <p:nvSpPr>
          <p:cNvPr id="4" name="TextBox 3"/>
          <p:cNvSpPr txBox="1"/>
          <p:nvPr/>
        </p:nvSpPr>
        <p:spPr>
          <a:xfrm>
            <a:off x="594360" y="566928"/>
            <a:ext cx="10515600" cy="502920"/>
          </a:xfrm>
          <a:prstGeom prst="rect">
            <a:avLst/>
          </a:prstGeom>
          <a:noFill/>
        </p:spPr>
        <p:txBody>
          <a:bodyPr wrap="none" lIns="0" tIns="0" rIns="0" bIns="0">
            <a:spAutoFit/>
          </a:bodyPr>
          <a:lstStyle/>
          <a:p>
            <a:pPr>
              <a:defRPr sz="2100" b="1">
                <a:solidFill>
                  <a:srgbClr val="0B2347"/>
                </a:solidFill>
              </a:defRPr>
            </a:pPr>
            <a:r>
              <a:t>8. Đánh giá tiến độ thực hiện so với kế hoạch đề ra</a:t>
            </a:r>
          </a:p>
        </p:txBody>
      </p:sp>
      <p:sp>
        <p:nvSpPr>
          <p:cNvPr id="5" name="TextBox 4"/>
          <p:cNvSpPr txBox="1"/>
          <p:nvPr/>
        </p:nvSpPr>
        <p:spPr>
          <a:xfrm>
            <a:off x="594360" y="6446520"/>
            <a:ext cx="10972800" cy="274320"/>
          </a:xfrm>
          <a:prstGeom prst="rect">
            <a:avLst/>
          </a:prstGeom>
          <a:noFill/>
        </p:spPr>
        <p:txBody>
          <a:bodyPr wrap="none">
            <a:spAutoFit/>
          </a:bodyPr>
          <a:lstStyle/>
          <a:p>
            <a:pPr>
              <a:defRPr sz="950">
                <a:solidFill>
                  <a:srgbClr val="5F6C7D"/>
                </a:solidFill>
              </a:defRPr>
            </a:pPr>
            <a:r>
              <a:t>Trường Đại học Công nghệ – ĐHQGHN  |  Nhóm 13: Nguyễn Tuấn Sơn – Vũ Hữu Hoạt                                                                                     Slide 9 / 10</a:t>
            </a:r>
          </a:p>
        </p:txBody>
      </p:sp>
      <p:sp>
        <p:nvSpPr>
          <p:cNvPr id="6" name="Rounded Rectangle 5"/>
          <p:cNvSpPr/>
          <p:nvPr/>
        </p:nvSpPr>
        <p:spPr>
          <a:xfrm>
            <a:off x="594360" y="1234440"/>
            <a:ext cx="5394960" cy="2377440"/>
          </a:xfrm>
          <a:prstGeom prst="roundRect">
            <a:avLst/>
          </a:prstGeom>
          <a:solidFill>
            <a:srgbClr val="FFFFFF"/>
          </a:solidFill>
          <a:ln w="19050">
            <a:solidFill>
              <a:srgbClr val="105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399032"/>
            <a:ext cx="4992624" cy="2084832"/>
          </a:xfrm>
          <a:prstGeom prst="rect">
            <a:avLst/>
          </a:prstGeom>
          <a:noFill/>
        </p:spPr>
        <p:txBody>
          <a:bodyPr wrap="square" lIns="0" tIns="0" rIns="0" bIns="0">
            <a:spAutoFit/>
          </a:bodyPr>
          <a:lstStyle/>
          <a:p>
            <a:pPr>
              <a:spcAft>
                <a:spcPts val="300"/>
              </a:spcAft>
              <a:defRPr sz="1450" b="1">
                <a:solidFill>
                  <a:srgbClr val="10559A"/>
                </a:solidFill>
              </a:defRPr>
            </a:pPr>
            <a:r>
              <a:t>Giai đoạn 1 (Tuần 1 – 2): Khảo sát &amp; Mua linh kiện  [ĐÃ HOÀN THÀNH 100%]</a:t>
            </a:r>
          </a:p>
          <a:p>
            <a:pPr>
              <a:spcAft>
                <a:spcPts val="450"/>
              </a:spcAft>
              <a:defRPr sz="1100">
                <a:solidFill>
                  <a:srgbClr val="141C28"/>
                </a:solidFill>
              </a:defRPr>
            </a:pPr>
            <a:r>
              <a:t>•  Chốt sơ đồ tổng thể hệ thống cửa bảo mật 3 phương thức xác thực + Web App.</a:t>
            </a:r>
          </a:p>
          <a:p>
            <a:pPr>
              <a:spcAft>
                <a:spcPts val="450"/>
              </a:spcAft>
              <a:defRPr sz="1100">
                <a:solidFill>
                  <a:srgbClr val="141C28"/>
                </a:solidFill>
              </a:defRPr>
            </a:pPr>
            <a:r>
              <a:t>•  Mua đầy đủ 100% linh kiện: Cảm biến vân tay AS608, RFID RC522 + thẻ S50/NFC, Keypad 4x4 có nắp đậy, màn hình LCD I2C, ESP32, Khóa chốt 12V và linh kiện nguồn.</a:t>
            </a:r>
          </a:p>
        </p:txBody>
      </p:sp>
      <p:sp>
        <p:nvSpPr>
          <p:cNvPr id="8" name="Rounded Rectangle 7"/>
          <p:cNvSpPr/>
          <p:nvPr/>
        </p:nvSpPr>
        <p:spPr>
          <a:xfrm>
            <a:off x="6199632" y="1234440"/>
            <a:ext cx="5394960" cy="2377440"/>
          </a:xfrm>
          <a:prstGeom prst="roundRect">
            <a:avLst/>
          </a:prstGeom>
          <a:solidFill>
            <a:srgbClr val="FFFFFF"/>
          </a:solidFill>
          <a:ln w="19050">
            <a:solidFill>
              <a:srgbClr val="105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399032"/>
            <a:ext cx="4992624" cy="2084832"/>
          </a:xfrm>
          <a:prstGeom prst="rect">
            <a:avLst/>
          </a:prstGeom>
          <a:noFill/>
        </p:spPr>
        <p:txBody>
          <a:bodyPr wrap="square" lIns="0" tIns="0" rIns="0" bIns="0">
            <a:spAutoFit/>
          </a:bodyPr>
          <a:lstStyle/>
          <a:p>
            <a:pPr>
              <a:spcAft>
                <a:spcPts val="300"/>
              </a:spcAft>
              <a:defRPr sz="1450" b="1">
                <a:solidFill>
                  <a:srgbClr val="10559A"/>
                </a:solidFill>
              </a:defRPr>
            </a:pPr>
            <a:r>
              <a:t>Giai đoạn 2 (Tuần 3 – 4): Thiết kế PCB &amp; Web App  [ĐÃ HOÀN THÀNH 100%]</a:t>
            </a:r>
          </a:p>
          <a:p>
            <a:pPr>
              <a:spcAft>
                <a:spcPts val="450"/>
              </a:spcAft>
              <a:defRPr sz="1100">
                <a:solidFill>
                  <a:srgbClr val="141C28"/>
                </a:solidFill>
              </a:defRPr>
            </a:pPr>
            <a:r>
              <a:t>•  Vũ Hữu Hoạt: Đã nghiên cứu datasheet, đo chân linh kiện, hoàn thành vẽ sơ đồ nguyên lý (Schematic) và Layout mạch in PCB 2 lớp.</a:t>
            </a:r>
          </a:p>
          <a:p>
            <a:pPr>
              <a:spcAft>
                <a:spcPts val="450"/>
              </a:spcAft>
              <a:defRPr sz="1100">
                <a:solidFill>
                  <a:srgbClr val="141C28"/>
                </a:solidFill>
              </a:defRPr>
            </a:pPr>
            <a:r>
              <a:t>•  Nguyễn Tuấn Sơn: Đã lập trình xong bộ mã nguồn ESP32 (PlatformIO), hoàn thiện giao diện Web App tích hợp bảo mật 2 lớp (2FA) và đưa lên tên miền Vercel.</a:t>
            </a:r>
          </a:p>
        </p:txBody>
      </p:sp>
      <p:sp>
        <p:nvSpPr>
          <p:cNvPr id="10" name="Rounded Rectangle 9"/>
          <p:cNvSpPr/>
          <p:nvPr/>
        </p:nvSpPr>
        <p:spPr>
          <a:xfrm>
            <a:off x="594360" y="3840480"/>
            <a:ext cx="5394960" cy="2423160"/>
          </a:xfrm>
          <a:prstGeom prst="roundRect">
            <a:avLst/>
          </a:prstGeom>
          <a:solidFill>
            <a:srgbClr val="F6F8FB"/>
          </a:solidFill>
          <a:ln w="1270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4005072"/>
            <a:ext cx="4992624" cy="2130552"/>
          </a:xfrm>
          <a:prstGeom prst="rect">
            <a:avLst/>
          </a:prstGeom>
          <a:noFill/>
        </p:spPr>
        <p:txBody>
          <a:bodyPr wrap="square" lIns="0" tIns="0" rIns="0" bIns="0">
            <a:spAutoFit/>
          </a:bodyPr>
          <a:lstStyle/>
          <a:p>
            <a:pPr>
              <a:spcAft>
                <a:spcPts val="300"/>
              </a:spcAft>
              <a:defRPr sz="1450" b="1">
                <a:solidFill>
                  <a:srgbClr val="0B2347"/>
                </a:solidFill>
              </a:defRPr>
            </a:pPr>
            <a:r>
              <a:t>Giai đoạn 3 (Tuần 5 – 6): Gia công mạch &amp; Tích hợp  [DỰ KIẾN TIẾP THEO]</a:t>
            </a:r>
          </a:p>
          <a:p>
            <a:pPr>
              <a:spcAft>
                <a:spcPts val="450"/>
              </a:spcAft>
              <a:defRPr sz="1100">
                <a:solidFill>
                  <a:srgbClr val="141C28"/>
                </a:solidFill>
              </a:defRPr>
            </a:pPr>
            <a:r>
              <a:t>•  Vũ Hữu Hoạt: Gia công ăn mòn/đặt in mạch PCB, hàn linh kiện, đo kiểm tra khối nguồn hạ áp 12V -&gt; 5V/3.3V và dựng khung mô hình cửa cơ khí.</a:t>
            </a:r>
          </a:p>
          <a:p>
            <a:pPr>
              <a:spcAft>
                <a:spcPts val="450"/>
              </a:spcAft>
              <a:defRPr sz="1100">
                <a:solidFill>
                  <a:srgbClr val="141C28"/>
                </a:solidFill>
              </a:defRPr>
            </a:pPr>
            <a:r>
              <a:t>•  Nguyễn Tuấn Sơn: Nạp code và hệ thống file LittleFS lên mạch ESP32 thực tế, hiệu chỉnh độ nhạy cảm biến AS608 và RC522 trên bo mạch.</a:t>
            </a:r>
          </a:p>
        </p:txBody>
      </p:sp>
      <p:sp>
        <p:nvSpPr>
          <p:cNvPr id="12" name="Rounded Rectangle 11"/>
          <p:cNvSpPr/>
          <p:nvPr/>
        </p:nvSpPr>
        <p:spPr>
          <a:xfrm>
            <a:off x="6199632" y="3840480"/>
            <a:ext cx="5394960" cy="2423160"/>
          </a:xfrm>
          <a:prstGeom prst="roundRect">
            <a:avLst/>
          </a:prstGeom>
          <a:solidFill>
            <a:srgbClr val="F6F8FB"/>
          </a:solidFill>
          <a:ln w="1270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4005072"/>
            <a:ext cx="4992624" cy="2130552"/>
          </a:xfrm>
          <a:prstGeom prst="rect">
            <a:avLst/>
          </a:prstGeom>
          <a:noFill/>
        </p:spPr>
        <p:txBody>
          <a:bodyPr wrap="square" lIns="0" tIns="0" rIns="0" bIns="0">
            <a:spAutoFit/>
          </a:bodyPr>
          <a:lstStyle/>
          <a:p>
            <a:pPr>
              <a:spcAft>
                <a:spcPts val="300"/>
              </a:spcAft>
              <a:defRPr sz="1450" b="1">
                <a:solidFill>
                  <a:srgbClr val="0B2347"/>
                </a:solidFill>
              </a:defRPr>
            </a:pPr>
            <a:r>
              <a:t>Giai đoạn 4 (Tuần 7 – 8): Lắp đặt hoàn thiện &amp; Báo cáo  [DỰ KIẾN]</a:t>
            </a:r>
          </a:p>
          <a:p>
            <a:pPr>
              <a:spcAft>
                <a:spcPts val="450"/>
              </a:spcAft>
              <a:defRPr sz="1100">
                <a:solidFill>
                  <a:srgbClr val="141C28"/>
                </a:solidFill>
              </a:defRPr>
            </a:pPr>
            <a:r>
              <a:t>•  Lắp đặt toàn bộ bo mạch PCB, khóa chốt 12V, LCD, Keypad 4x4, AS608, RC522 lên khung mô hình cửa hoàn chỉnh.</a:t>
            </a:r>
          </a:p>
          <a:p>
            <a:pPr>
              <a:spcAft>
                <a:spcPts val="450"/>
              </a:spcAft>
              <a:defRPr sz="1100">
                <a:solidFill>
                  <a:srgbClr val="141C28"/>
                </a:solidFill>
              </a:defRPr>
            </a:pPr>
            <a:r>
              <a:t>•  Kiểm thử thực nghiệm các kịch bản bảo mật 1 lớp / 2 lớp, trích xuất file CSV lịch sử ra vào và hoàn thiện cuốn Báo cáo đồ án Cơ Điện Tử.</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
          </a:xfrm>
          <a:prstGeom prst="rect">
            <a:avLst/>
          </a:prstGeom>
          <a:solidFill>
            <a:srgbClr val="1055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92608"/>
            <a:ext cx="9601200" cy="274320"/>
          </a:xfrm>
          <a:prstGeom prst="rect">
            <a:avLst/>
          </a:prstGeom>
          <a:noFill/>
        </p:spPr>
        <p:txBody>
          <a:bodyPr wrap="none" lIns="0" tIns="0" rIns="0" bIns="0">
            <a:spAutoFit/>
          </a:bodyPr>
          <a:lstStyle/>
          <a:p>
            <a:pPr>
              <a:defRPr sz="1050" b="1">
                <a:solidFill>
                  <a:srgbClr val="10559A"/>
                </a:solidFill>
              </a:defRPr>
            </a:pPr>
            <a:r>
              <a:t>BÁO CÁO TIẾN ĐỘ GIỮA KỲ — ĐỒ ÁN CƠ ĐIỆN TỬ (NHÓM 13)</a:t>
            </a:r>
          </a:p>
        </p:txBody>
      </p:sp>
      <p:sp>
        <p:nvSpPr>
          <p:cNvPr id="4" name="TextBox 3"/>
          <p:cNvSpPr txBox="1"/>
          <p:nvPr/>
        </p:nvSpPr>
        <p:spPr>
          <a:xfrm>
            <a:off x="594360" y="566928"/>
            <a:ext cx="10515600" cy="502920"/>
          </a:xfrm>
          <a:prstGeom prst="rect">
            <a:avLst/>
          </a:prstGeom>
          <a:noFill/>
        </p:spPr>
        <p:txBody>
          <a:bodyPr wrap="none" lIns="0" tIns="0" rIns="0" bIns="0">
            <a:spAutoFit/>
          </a:bodyPr>
          <a:lstStyle/>
          <a:p>
            <a:pPr>
              <a:defRPr sz="2100" b="1">
                <a:solidFill>
                  <a:srgbClr val="0B2347"/>
                </a:solidFill>
              </a:defRPr>
            </a:pPr>
            <a:r>
              <a:t>9. Tổng kết báo cáo giữa kỳ &amp; Trình chiếu Demo Web App</a:t>
            </a:r>
          </a:p>
        </p:txBody>
      </p:sp>
      <p:sp>
        <p:nvSpPr>
          <p:cNvPr id="5" name="TextBox 4"/>
          <p:cNvSpPr txBox="1"/>
          <p:nvPr/>
        </p:nvSpPr>
        <p:spPr>
          <a:xfrm>
            <a:off x="594360" y="6446520"/>
            <a:ext cx="10972800" cy="274320"/>
          </a:xfrm>
          <a:prstGeom prst="rect">
            <a:avLst/>
          </a:prstGeom>
          <a:noFill/>
        </p:spPr>
        <p:txBody>
          <a:bodyPr wrap="none">
            <a:spAutoFit/>
          </a:bodyPr>
          <a:lstStyle/>
          <a:p>
            <a:pPr>
              <a:defRPr sz="950">
                <a:solidFill>
                  <a:srgbClr val="5F6C7D"/>
                </a:solidFill>
              </a:defRPr>
            </a:pPr>
            <a:r>
              <a:t>Trường Đại học Công nghệ – ĐHQGHN  |  Nhóm 13: Nguyễn Tuấn Sơn – Vũ Hữu Hoạt                                                                                     Slide 10 / 10</a:t>
            </a:r>
          </a:p>
        </p:txBody>
      </p:sp>
      <p:sp>
        <p:nvSpPr>
          <p:cNvPr id="6" name="Rounded Rectangle 5"/>
          <p:cNvSpPr/>
          <p:nvPr/>
        </p:nvSpPr>
        <p:spPr>
          <a:xfrm>
            <a:off x="594360" y="1234440"/>
            <a:ext cx="5669280" cy="5029200"/>
          </a:xfrm>
          <a:prstGeom prst="roundRect">
            <a:avLst/>
          </a:prstGeom>
          <a:solidFill>
            <a:srgbClr val="FFFFFF"/>
          </a:solidFill>
          <a:ln w="19050">
            <a:solidFill>
              <a:srgbClr val="1055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399032"/>
            <a:ext cx="5266944" cy="4736592"/>
          </a:xfrm>
          <a:prstGeom prst="rect">
            <a:avLst/>
          </a:prstGeom>
          <a:noFill/>
        </p:spPr>
        <p:txBody>
          <a:bodyPr wrap="square" lIns="0" tIns="0" rIns="0" bIns="0">
            <a:spAutoFit/>
          </a:bodyPr>
          <a:lstStyle/>
          <a:p>
            <a:pPr>
              <a:spcAft>
                <a:spcPts val="300"/>
              </a:spcAft>
              <a:defRPr sz="1450" b="1">
                <a:solidFill>
                  <a:srgbClr val="10559A"/>
                </a:solidFill>
              </a:defRPr>
            </a:pPr>
            <a:r>
              <a:t>Tóm tắt các kết quả đạt được tính đến giữa kỳ</a:t>
            </a:r>
          </a:p>
          <a:p>
            <a:pPr>
              <a:spcAft>
                <a:spcPts val="700"/>
              </a:spcAft>
              <a:defRPr sz="1050">
                <a:solidFill>
                  <a:srgbClr val="5F6C7D"/>
                </a:solidFill>
              </a:defRPr>
            </a:pPr>
            <a:r>
              <a:t>Đảm bảo 100% tiến độ theo kế hoạch học phần</a:t>
            </a:r>
          </a:p>
          <a:p>
            <a:pPr>
              <a:spcAft>
                <a:spcPts val="450"/>
              </a:spcAft>
              <a:defRPr sz="1200">
                <a:solidFill>
                  <a:srgbClr val="141C28"/>
                </a:solidFill>
              </a:defRPr>
            </a:pPr>
            <a:r>
              <a:t>•  1. Về linh kiện vật tư: Đã chuẩn bị đầy đủ 100% các module cảm biến và cơ cấu chấp hành theo đúng danh mục đề tài.</a:t>
            </a:r>
          </a:p>
          <a:p>
            <a:pPr>
              <a:spcAft>
                <a:spcPts val="450"/>
              </a:spcAft>
              <a:defRPr sz="1200">
                <a:solidFill>
                  <a:srgbClr val="141C28"/>
                </a:solidFill>
              </a:defRPr>
            </a:pPr>
            <a:r>
              <a:t>•  2. Về nghiên cứu lý thuyết &amp; mạch điện: Đã làm chủ datasheet, giao thức UART2 / SPI / I2C / Matrix Scanning và hoàn thành bản vẽ mạch in PCB trung tâm.</a:t>
            </a:r>
          </a:p>
          <a:p>
            <a:pPr>
              <a:spcAft>
                <a:spcPts val="450"/>
              </a:spcAft>
              <a:defRPr sz="1200">
                <a:solidFill>
                  <a:srgbClr val="141C28"/>
                </a:solidFill>
              </a:defRPr>
            </a:pPr>
            <a:r>
              <a:t>•  3. Về phần mềm &amp; Web App: Đã hoàn thiện sớm hơn tiến độ (vừa có Firmware C++ cho ESP32, vừa có Web App tối giản hỗ trợ bảo mật 1 lớp &amp; 2FA).</a:t>
            </a:r>
          </a:p>
          <a:p>
            <a:pPr>
              <a:spcAft>
                <a:spcPts val="450"/>
              </a:spcAft>
              <a:defRPr sz="1200">
                <a:solidFill>
                  <a:srgbClr val="141C28"/>
                </a:solidFill>
              </a:defRPr>
            </a:pPr>
            <a:r>
              <a:t>•  4. Sẵn sàng chuyển sang Giai đoạn 3 (Gia công hàn mạch PCB và lắp dựng cơ khí khung cửa).</a:t>
            </a:r>
          </a:p>
        </p:txBody>
      </p:sp>
      <p:sp>
        <p:nvSpPr>
          <p:cNvPr id="8" name="Rounded Rectangle 7"/>
          <p:cNvSpPr/>
          <p:nvPr/>
        </p:nvSpPr>
        <p:spPr>
          <a:xfrm>
            <a:off x="6446520" y="1234440"/>
            <a:ext cx="5148072" cy="3474720"/>
          </a:xfrm>
          <a:prstGeom prst="round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web_dashboard.png"/>
          <p:cNvPicPr>
            <a:picLocks noChangeAspect="1"/>
          </p:cNvPicPr>
          <p:nvPr/>
        </p:nvPicPr>
        <p:blipFill>
          <a:blip r:embed="rId2"/>
          <a:stretch>
            <a:fillRect/>
          </a:stretch>
        </p:blipFill>
        <p:spPr>
          <a:xfrm>
            <a:off x="6707540" y="1344168"/>
            <a:ext cx="4626032" cy="2907792"/>
          </a:xfrm>
          <a:prstGeom prst="rect">
            <a:avLst/>
          </a:prstGeom>
        </p:spPr>
      </p:pic>
      <p:sp>
        <p:nvSpPr>
          <p:cNvPr id="10" name="TextBox 9"/>
          <p:cNvSpPr txBox="1"/>
          <p:nvPr/>
        </p:nvSpPr>
        <p:spPr>
          <a:xfrm>
            <a:off x="6556248" y="4325112"/>
            <a:ext cx="4928616" cy="347472"/>
          </a:xfrm>
          <a:prstGeom prst="rect">
            <a:avLst/>
          </a:prstGeom>
          <a:noFill/>
        </p:spPr>
        <p:txBody>
          <a:bodyPr wrap="square">
            <a:spAutoFit/>
          </a:bodyPr>
          <a:lstStyle/>
          <a:p>
            <a:pPr algn="ctr">
              <a:defRPr sz="1000" b="1">
                <a:solidFill>
                  <a:srgbClr val="0B2347"/>
                </a:solidFill>
              </a:defRPr>
            </a:pPr>
            <a:r>
              <a:t>Demo trực tiếp tại: https://smartdoor-nhom13-data.vercel.app</a:t>
            </a:r>
          </a:p>
        </p:txBody>
      </p:sp>
      <p:sp>
        <p:nvSpPr>
          <p:cNvPr id="11" name="Rounded Rectangle 10"/>
          <p:cNvSpPr/>
          <p:nvPr/>
        </p:nvSpPr>
        <p:spPr>
          <a:xfrm>
            <a:off x="6446520" y="4846320"/>
            <a:ext cx="5148072" cy="1417320"/>
          </a:xfrm>
          <a:prstGeom prst="roundRect">
            <a:avLst/>
          </a:prstGeom>
          <a:solidFill>
            <a:srgbClr val="F6F8FB"/>
          </a:solidFill>
          <a:ln w="1270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47688" y="5010912"/>
            <a:ext cx="4745736" cy="1124712"/>
          </a:xfrm>
          <a:prstGeom prst="rect">
            <a:avLst/>
          </a:prstGeom>
          <a:noFill/>
        </p:spPr>
        <p:txBody>
          <a:bodyPr wrap="square" lIns="0" tIns="0" rIns="0" bIns="0">
            <a:spAutoFit/>
          </a:bodyPr>
          <a:lstStyle/>
          <a:p>
            <a:pPr>
              <a:spcAft>
                <a:spcPts val="300"/>
              </a:spcAft>
              <a:defRPr sz="1450" b="1">
                <a:solidFill>
                  <a:srgbClr val="0B2347"/>
                </a:solidFill>
              </a:defRPr>
            </a:pPr>
            <a:r>
              <a:t>Cảm ơn Thầy/Cô và các bạn đã lắng nghe!</a:t>
            </a:r>
          </a:p>
          <a:p>
            <a:pPr>
              <a:spcAft>
                <a:spcPts val="450"/>
              </a:spcAft>
              <a:defRPr sz="1150">
                <a:solidFill>
                  <a:srgbClr val="141C28"/>
                </a:solidFill>
              </a:defRPr>
            </a:pPr>
            <a:r>
              <a:t>•  Nhóm 13 xin phép chuyển sang phần Demo trực tiếp giao diện Web App &amp; Chế độ bảo mật 2 lớp trên trình duyệt và nhận ý kiến đóng góp của Thầy/Cô.</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