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E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300" b="1">
                <a:solidFill>
                  <a:srgbClr val="0E52A0"/>
                </a:solidFill>
                <a:latin typeface="Arial"/>
              </a:defRPr>
            </a:pPr>
            <a:r>
              <a:t>TRƯỜNG ĐẠI HỌC CÔNG NGHỆ – ĐHQGHN</a:t>
            </a:r>
            <a:br/>
            <a:r>
              <a:t>KHOA CƠ HỌC KỸ THUẬT VÀ TỰ ĐỘNG HÓA</a:t>
            </a:r>
          </a:p>
          <a:p>
            <a:pPr>
              <a:spcAft>
                <a:spcPts val="1000"/>
              </a:spcAft>
              <a:defRPr sz="1500" b="1">
                <a:solidFill>
                  <a:srgbClr val="646E7D"/>
                </a:solidFill>
                <a:latin typeface="Arial"/>
              </a:defRPr>
            </a:pPr>
            <a:r>
              <a:t>BÁO CÁO TIẾN ĐỘ ĐỒ ÁN GIỮA KỲ</a:t>
            </a:r>
          </a:p>
          <a:p>
            <a:pPr>
              <a:defRPr sz="3200" b="1">
                <a:solidFill>
                  <a:srgbClr val="141821"/>
                </a:solidFill>
                <a:latin typeface="Arial"/>
              </a:defRPr>
            </a:pPr>
            <a:r>
              <a:t>Mô hình Hệ thống Cửa Bảo Mật</a:t>
            </a:r>
          </a:p>
          <a:p>
            <a:pPr>
              <a:spcAft>
                <a:spcPts val="3200"/>
              </a:spcAft>
              <a:defRPr sz="1800">
                <a:solidFill>
                  <a:srgbClr val="0E52A0"/>
                </a:solidFill>
                <a:latin typeface="Arial"/>
              </a:defRPr>
            </a:pPr>
            <a:r>
              <a:t>Tích hợp Vân tay AS608, Thẻ RFID RC522, Keypad 4x4 &amp; Web App</a:t>
            </a:r>
          </a:p>
          <a:p>
            <a:pPr>
              <a:spcAft>
                <a:spcPts val="800"/>
              </a:spcAft>
              <a:defRPr sz="1400">
                <a:solidFill>
                  <a:srgbClr val="141821"/>
                </a:solidFill>
                <a:latin typeface="Arial"/>
              </a:defRPr>
            </a:pPr>
            <a:r>
              <a:t>Sinh viên thực hiện (Nhóm 13):</a:t>
            </a:r>
            <a:br/>
            <a:r>
              <a:t>• Nguyễn Tuấn Sơn  —  Lập trình ESP32, Giao diện Web App &amp; Báo cáo</a:t>
            </a:r>
            <a:br/>
            <a:r>
              <a:t>• Vũ Hữu Hoạt        —  Thiết kế phần cứng, Vẽ mạch PCB &amp; Mô hình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2222906"/>
            <a:ext cx="3328416" cy="2092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5166360"/>
            <a:ext cx="34747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Giao diện Web App đã hoàn thiện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1. Sơ đồ khối &amp; Cấu trúc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2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2179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78835"/>
            <a:ext cx="6071616" cy="2065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251960"/>
            <a:ext cx="6217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Hình 1: Sơ đồ kết nối các khối chức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37160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E52A0"/>
                </a:solidFill>
                <a:latin typeface="Arial"/>
              </a:defRPr>
            </a:pPr>
            <a:r>
              <a:t>Khối Xác thực tại cửa:</a:t>
            </a:r>
          </a:p>
          <a:p>
            <a:pPr>
              <a:spcAft>
                <a:spcPts val="1000"/>
              </a:spcAft>
              <a:defRPr sz="1300">
                <a:solidFill>
                  <a:srgbClr val="141821"/>
                </a:solidFill>
                <a:latin typeface="Arial"/>
              </a:defRPr>
            </a:pPr>
            <a:r>
              <a:t>Cảm biến vân tay quang học AS608, Module đọc thẻ RFID RC522 (13.56 MHz) và Bàn phím ma trận 4x4.</a:t>
            </a:r>
          </a:p>
          <a:p>
            <a:pPr>
              <a:defRPr sz="1450" b="1">
                <a:solidFill>
                  <a:srgbClr val="0E52A0"/>
                </a:solidFill>
                <a:latin typeface="Arial"/>
              </a:defRPr>
            </a:pPr>
            <a:r>
              <a:t>Khối Xử lý trung tâm:</a:t>
            </a:r>
          </a:p>
          <a:p>
            <a:pPr>
              <a:spcAft>
                <a:spcPts val="1000"/>
              </a:spcAft>
              <a:defRPr sz="1300">
                <a:solidFill>
                  <a:srgbClr val="141821"/>
                </a:solidFill>
                <a:latin typeface="Arial"/>
              </a:defRPr>
            </a:pPr>
            <a:r>
              <a:t>Vi điều khiển ESP32 nhận dữ liệu, kiểm tra quyền truy cập và điều khiển các ngoại vi.</a:t>
            </a:r>
          </a:p>
          <a:p>
            <a:pPr>
              <a:defRPr sz="1450" b="1">
                <a:solidFill>
                  <a:srgbClr val="0E52A0"/>
                </a:solidFill>
                <a:latin typeface="Arial"/>
              </a:defRPr>
            </a:pPr>
            <a:r>
              <a:t>Khối Hiển thị &amp; Chấp hành:</a:t>
            </a:r>
          </a:p>
          <a:p>
            <a:pPr>
              <a:spcAft>
                <a:spcPts val="1000"/>
              </a:spcAft>
              <a:defRPr sz="1300">
                <a:solidFill>
                  <a:srgbClr val="141821"/>
                </a:solidFill>
                <a:latin typeface="Arial"/>
              </a:defRPr>
            </a:pPr>
            <a:r>
              <a:t>Màn hình LCD 16x2 I2C hiển thị thông báo hướng dẫn và Khóa chốt điện từ 12V thực hiện mở/đóng cửa.</a:t>
            </a:r>
          </a:p>
          <a:p>
            <a:pPr>
              <a:defRPr sz="1450" b="1">
                <a:solidFill>
                  <a:srgbClr val="0E52A0"/>
                </a:solidFill>
                <a:latin typeface="Arial"/>
              </a:defRPr>
            </a:pPr>
            <a:r>
              <a:t>Khối Giám sát Web App:</a:t>
            </a:r>
          </a:p>
          <a:p>
            <a:pPr>
              <a:spcAft>
                <a:spcPts val="1000"/>
              </a:spcAft>
              <a:defRPr sz="1300">
                <a:solidFill>
                  <a:srgbClr val="141821"/>
                </a:solidFill>
                <a:latin typeface="Arial"/>
              </a:defRPr>
            </a:pPr>
            <a:r>
              <a:t>ESP32 kết nối Wi-Fi, chạy Web Server cục bộ giúp theo dõi trạng thái, xem lịch sử ra vào và mở khóa từ xa.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6217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41821"/>
                </a:solidFill>
              </a:defRPr>
            </a:pPr>
            <a:r>
              <a:t>Điều chỉnh thực tế trong quá trình làm:</a:t>
            </a:r>
          </a:p>
          <a:p>
            <a:pPr>
              <a:defRPr sz="1200">
                <a:solidFill>
                  <a:srgbClr val="646E7D"/>
                </a:solidFill>
              </a:defRPr>
            </a:pPr>
            <a:r>
              <a:t>• Dùng Màn hình LCD 16x2 I2C thay cho loa để người dùng dễ theo dõi trạng thái, ký tự mật khẩu và thời gian đếm ngược.</a:t>
            </a:r>
            <a:br/>
            <a:r>
              <a:t>• Dùng Bàn phím ma trận 4x4 (16 phím) để có thêm các phím chức năng (Xóa *, Xác nhận #/D, Khóa 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2. Linh kiện thực tế nhóm đã mua và khảo sát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3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2841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20" y="1444752"/>
            <a:ext cx="1728216" cy="1728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246120"/>
            <a:ext cx="3328416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Cảm biến vân tay AS608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32841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E52A0"/>
                </a:solidFill>
              </a:defRPr>
            </a:pPr>
            <a:r>
              <a:t>Cảm biến vân tay AS608</a:t>
            </a:r>
          </a:p>
          <a:p>
            <a:pPr>
              <a:defRPr sz="1300">
                <a:solidFill>
                  <a:srgbClr val="141821"/>
                </a:solidFill>
              </a:defRPr>
            </a:pPr>
            <a:r>
              <a:t>• Điện áp: 3.3V – 5.0V DC</a:t>
            </a:r>
            <a:br/>
            <a:r>
              <a:t>• Giao tiếp: UART TTL (baudrate 57600)</a:t>
            </a:r>
            <a:br/>
            <a:r>
              <a:t>• Bộ nhớ: Lưu 127 mẫu vân tay trực tiếp trong cảm biến</a:t>
            </a:r>
            <a:br/>
            <a:r>
              <a:t>• Tốc độ nhận dạng: &lt; 1 giây</a:t>
            </a:r>
            <a:br/>
            <a:r>
              <a:t>• Trạng thái: Đã mua, test tốt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5696" y="1371600"/>
            <a:ext cx="332841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796" y="1444752"/>
            <a:ext cx="1728216" cy="1728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25696" y="3246120"/>
            <a:ext cx="3328416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Module RFID-RC522 &amp; Thẻ từ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3749039"/>
            <a:ext cx="332841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E52A0"/>
                </a:solidFill>
              </a:defRPr>
            </a:pPr>
            <a:r>
              <a:t>Module đọc thẻ RFID RC522</a:t>
            </a:r>
          </a:p>
          <a:p>
            <a:pPr>
              <a:defRPr sz="1300">
                <a:solidFill>
                  <a:srgbClr val="141821"/>
                </a:solidFill>
              </a:defRPr>
            </a:pPr>
            <a:r>
              <a:t>• Điện áp cấp: 3.3V DC (không cấp 5V)</a:t>
            </a:r>
            <a:br/>
            <a:r>
              <a:t>• Tần số: 13.56 MHz (chuẩn SPI)</a:t>
            </a:r>
            <a:br/>
            <a:r>
              <a:t>• Đọc thẻ trắng S50 và móc khóa NFC</a:t>
            </a:r>
            <a:br/>
            <a:r>
              <a:t>• Khoảng cách nhận thẻ: 0 – 30 mm</a:t>
            </a:r>
            <a:br/>
            <a:r>
              <a:t>• Trạng thái: Đã mua, test đọc UID tốt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9872" y="1371600"/>
            <a:ext cx="332841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9972" y="1444752"/>
            <a:ext cx="1728216" cy="1728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19872" y="3246120"/>
            <a:ext cx="3328416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Bàn phím ma trận 4x4 có nắp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9872" y="3749039"/>
            <a:ext cx="332841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E52A0"/>
                </a:solidFill>
              </a:defRPr>
            </a:pPr>
            <a:r>
              <a:t>Bàn phím 4x4 &amp; Khóa chốt 12V</a:t>
            </a:r>
          </a:p>
          <a:p>
            <a:pPr>
              <a:defRPr sz="1300">
                <a:solidFill>
                  <a:srgbClr val="141821"/>
                </a:solidFill>
              </a:defRPr>
            </a:pPr>
            <a:r>
              <a:t>• Bàn phím 4x4: Phím cứng có nắp đậy, quét 8 chân Hàng - Cột</a:t>
            </a:r>
            <a:br/>
            <a:r>
              <a:t>• Màn hình: LCD 16x2 giao tiếp I2C 2 dây (SDA/SCL)</a:t>
            </a:r>
            <a:br/>
            <a:r>
              <a:t>• Khóa chốt 12V: Kích mở qua Relay/MOSFET</a:t>
            </a:r>
            <a:br/>
            <a:r>
              <a:t>• Trạng thái: Đã có đủ linh kiện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3. Sơ đồ kết nối chân ESP32 &amp; Giải pháp chống nhiễu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E52A0"/>
                </a:solidFill>
              </a:defRPr>
            </a:pPr>
            <a:r>
              <a:t>Phân bổ chân GPIO trên ESP32:</a:t>
            </a:r>
          </a:p>
          <a:p>
            <a:pPr>
              <a:spcAft>
                <a:spcPts val="800"/>
              </a:spcAft>
              <a:defRPr sz="1350">
                <a:solidFill>
                  <a:srgbClr val="141821"/>
                </a:solidFill>
              </a:defRPr>
            </a:pPr>
            <a:r>
              <a:t>• Vân tay AS608 (UART2): RX -&gt; GPIO 16, TX -&gt; GPIO 17</a:t>
            </a:r>
          </a:p>
          <a:p>
            <a:pPr>
              <a:spcAft>
                <a:spcPts val="800"/>
              </a:spcAft>
              <a:defRPr sz="1350">
                <a:solidFill>
                  <a:srgbClr val="141821"/>
                </a:solidFill>
              </a:defRPr>
            </a:pPr>
            <a:r>
              <a:t>• RFID RC522 (SPI): SS:5, SCK:18, MOSI:23, MISO:19, RST:4</a:t>
            </a:r>
          </a:p>
          <a:p>
            <a:pPr>
              <a:spcAft>
                <a:spcPts val="800"/>
              </a:spcAft>
              <a:defRPr sz="1350">
                <a:solidFill>
                  <a:srgbClr val="141821"/>
                </a:solidFill>
              </a:defRPr>
            </a:pPr>
            <a:r>
              <a:t>• Màn hình LCD 16x2 (I2C): SDA -&gt; GPIO 21, SCL -&gt; GPIO 22</a:t>
            </a:r>
          </a:p>
          <a:p>
            <a:pPr>
              <a:spcAft>
                <a:spcPts val="800"/>
              </a:spcAft>
              <a:defRPr sz="1350">
                <a:solidFill>
                  <a:srgbClr val="141821"/>
                </a:solidFill>
              </a:defRPr>
            </a:pPr>
            <a:r>
              <a:t>• Khóa chốt điện từ 12V: Điều khiển kích qua GPIO 2</a:t>
            </a:r>
          </a:p>
          <a:p>
            <a:pPr>
              <a:spcAft>
                <a:spcPts val="800"/>
              </a:spcAft>
              <a:defRPr sz="1350">
                <a:solidFill>
                  <a:srgbClr val="141821"/>
                </a:solidFill>
              </a:defRPr>
            </a:pPr>
            <a:r>
              <a:t>• Bàn phím ma trận 4x4 (8 chân GPIO):</a:t>
            </a:r>
            <a:br/>
            <a:r>
              <a:t>   • 4 Hàng (R1-R4): GPIO 13, 12, 14, 27</a:t>
            </a:r>
            <a:br/>
            <a:r>
              <a:t>   • 4 Cột (C1-C4): GPIO 26, 25, 33, 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E52A0"/>
                </a:solidFill>
              </a:defRPr>
            </a:pPr>
            <a:r>
              <a:t>Lưu ý kỹ thuật khi thiết kế mạch:</a:t>
            </a:r>
          </a:p>
          <a:p>
            <a:pPr>
              <a:defRPr b="1" sz="1400">
                <a:solidFill>
                  <a:srgbClr val="141821"/>
                </a:solidFill>
              </a:defRPr>
            </a:pPr>
            <a:r>
              <a:t>• Tránh chân Input-Only của ESP32:</a:t>
            </a:r>
          </a:p>
          <a:p>
            <a:pPr>
              <a:spcAft>
                <a:spcPts val="800"/>
              </a:spcAft>
              <a:defRPr sz="1300">
                <a:solidFill>
                  <a:srgbClr val="646E7D"/>
                </a:solidFill>
              </a:defRPr>
            </a:pPr>
            <a:r>
              <a:t>   Các chân GPIO 34-39 không có trở kéo lên nội (pull-up). Nhóm đã chọn các chân GPIO 12..33 cho Keypad để quét phím ổn định, không cần hàn thêm trở ngoài.</a:t>
            </a:r>
          </a:p>
          <a:p>
            <a:pPr>
              <a:defRPr b="1" sz="1400">
                <a:solidFill>
                  <a:srgbClr val="141821"/>
                </a:solidFill>
              </a:defRPr>
            </a:pPr>
            <a:r>
              <a:t>• Bảo vệ điện áp 3.3V cho RC522:</a:t>
            </a:r>
          </a:p>
          <a:p>
            <a:pPr>
              <a:spcAft>
                <a:spcPts val="800"/>
              </a:spcAft>
              <a:defRPr sz="1300">
                <a:solidFill>
                  <a:srgbClr val="646E7D"/>
                </a:solidFill>
              </a:defRPr>
            </a:pPr>
            <a:r>
              <a:t>   Module RC522 dùng nguồn 3.3V, cấp 5V sẽ cháy chip. Mạch PCB thiết kế đường nguồn 3.3V riêng biệt.</a:t>
            </a:r>
          </a:p>
          <a:p>
            <a:pPr>
              <a:defRPr b="1" sz="1400">
                <a:solidFill>
                  <a:srgbClr val="141821"/>
                </a:solidFill>
              </a:defRPr>
            </a:pPr>
            <a:r>
              <a:t>• Chống xung ngược từ khóa 12V:</a:t>
            </a:r>
          </a:p>
          <a:p>
            <a:pPr>
              <a:spcAft>
                <a:spcPts val="800"/>
              </a:spcAft>
              <a:defRPr sz="1300">
                <a:solidFill>
                  <a:srgbClr val="646E7D"/>
                </a:solidFill>
              </a:defRPr>
            </a:pPr>
            <a:r>
              <a:t>   Cuộn hút khóa 12V khi ngắt điện sinh ra xung áp ngược làm reset ESP32. Nhóm dùng Diode 1N4007 mắc song song ngược cực khóa kèm tụ lọc 470uF.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4. Kết quả thiết kế Mạch in PCB (Vũ Hữu Hoạt)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5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9436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cb_layo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61770"/>
            <a:ext cx="5797296" cy="3671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23560"/>
            <a:ext cx="5943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Hình 2: Sơ đồ bố trí các khối trên bo mạch PCB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52A0"/>
                </a:solidFill>
              </a:defRPr>
            </a:pPr>
            <a:r>
              <a:t>Nội dung Hoạt đã thực hiện: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Đo đạc chân cắm thực tế: Đo đúng kích thước header của AS608, RC522, Keypad 4x4, LCD và Domino nguồn 12V.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Vẽ Sơ đồ nguyên lý (Schematic): Liên kết toàn bộ linh kiện về ESP32, thêm khối nguồn hạ áp (12V -&gt; 5V và 3.3V) và khối kích khóa 12V.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Thiết kế Layout mạch in 2 lớp:</a:t>
            </a:r>
            <a:br/>
            <a:r>
              <a:t>  • Đường nguồn 12V cấp khóa chốt được vẽ to (&gt; 40 mil) để chịu dòng 1.5A an toàn.</a:t>
            </a:r>
            <a:br/>
            <a:r>
              <a:t>  • Phủ đồng Mass (GND) cả 2 mặt để chống nhiễu Wi-Fi và sóng RFID 13.56 MHz.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Trạng thái: Đã xuất file Gerber và sẵn sàng gửi gia công ở Giai đoạn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5. Lập trình Firmware ESP32 &amp; Chế độ Bảo mật 2 lớp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52A0"/>
                </a:solidFill>
              </a:defRPr>
            </a:pPr>
            <a:r>
              <a:t>Lập trình ESP32 (Nguyễn Tuấn Sơn):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Code chạy không chặn (Non-blocking): Không dùng delay(), dùng millis() quét Keypad 4x4 liên tục và đọc RFID/Vân tay mỗi 80ms, không làm đơ kết nối Web.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Lưu trữ dữ liệu trong LittleFS: Lưu thẳng file giao diện Web và file config.json vào bộ nhớ Flash ESP32. Mất điện không mất mật khẩu hay danh sách thẻ.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Giao thức WebSocket: Đẩy sự kiện quẹt thẻ/vân tay và phản chiếu dòng chữ LCD lên Web tức thì (&lt; 100ms).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• Tên miền cục bộ: Dùng mDNS mở trang web bằng http://smartdoor.local.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52A0"/>
                </a:solidFill>
              </a:defRPr>
            </a:pPr>
            <a:r>
              <a:t>Chế độ Bảo mật 1 lớp &amp; 2 lớp (2FA):</a:t>
            </a:r>
          </a:p>
          <a:p>
            <a:pPr>
              <a:defRPr b="1" sz="1400">
                <a:solidFill>
                  <a:srgbClr val="141821"/>
                </a:solidFill>
              </a:defRPr>
            </a:pPr>
            <a:r>
              <a:t>• Chế độ 1 Lớp (Mở nhanh):</a:t>
            </a:r>
          </a:p>
          <a:p>
            <a:pPr>
              <a:spcAft>
                <a:spcPts val="800"/>
              </a:spcAft>
              <a:defRPr sz="1300">
                <a:solidFill>
                  <a:srgbClr val="646E7D"/>
                </a:solidFill>
              </a:defRPr>
            </a:pPr>
            <a:r>
              <a:t>   Dùng 1 trong 3 cách: quét Vân tay HOẶC Thẻ RFID HOẶC nhập mã PIN là mở cửa ngay.</a:t>
            </a:r>
          </a:p>
          <a:p>
            <a:pPr>
              <a:defRPr b="1" sz="1400">
                <a:solidFill>
                  <a:srgbClr val="141821"/>
                </a:solidFill>
              </a:defRPr>
            </a:pPr>
            <a:r>
              <a:t>• Chế độ 2 Lớp (Bảo mật cao):</a:t>
            </a:r>
          </a:p>
          <a:p>
            <a:pPr>
              <a:spcAft>
                <a:spcPts val="800"/>
              </a:spcAft>
              <a:defRPr sz="1300">
                <a:solidFill>
                  <a:srgbClr val="646E7D"/>
                </a:solidFill>
              </a:defRPr>
            </a:pPr>
            <a:r>
              <a:t>   Cần xác thực 2 bước liên tiếp:</a:t>
            </a:r>
            <a:br/>
            <a:r>
              <a:t>  1. Vân tay AS608 + Mã PIN Keypad 4x4</a:t>
            </a:r>
            <a:br/>
            <a:r>
              <a:t>  2. Thẻ từ RFID + Mã PIN Keypad 4x4</a:t>
            </a:r>
            <a:br/>
            <a:r>
              <a:t>  3. Vân tay AS608 + Thẻ từ RFID</a:t>
            </a:r>
          </a:p>
          <a:p>
            <a:pPr>
              <a:defRPr b="1" sz="1400">
                <a:solidFill>
                  <a:srgbClr val="141821"/>
                </a:solidFill>
              </a:defRPr>
            </a:pPr>
            <a:r>
              <a:t>• Tự hủy phiên sau 15 giây:</a:t>
            </a:r>
          </a:p>
          <a:p>
            <a:pPr>
              <a:spcAft>
                <a:spcPts val="800"/>
              </a:spcAft>
              <a:defRPr sz="1300">
                <a:solidFill>
                  <a:srgbClr val="646E7D"/>
                </a:solidFill>
              </a:defRPr>
            </a:pPr>
            <a:r>
              <a:t>   Xác thực bước 1 thành công -&gt; LCD hiện thông báo chờ bước 2. Nếu quá 15 giây không hoàn thành hoặc nhập sai, hệ thống tự khóa lại để bảo vệ.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6. Giao diện Web App Quản lý &amp; Triển khai Vercel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7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8580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57" y="1444752"/>
            <a:ext cx="6531725" cy="4105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23560"/>
            <a:ext cx="6858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646E7D"/>
                </a:solidFill>
                <a:latin typeface="Arial"/>
              </a:defRPr>
            </a:pPr>
            <a:r>
              <a:t>Hình 3: Giao diện Web App thực tế (Đang chạy tại smartdoor-nhom13-data.vercel.app)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E52A0"/>
                </a:solidFill>
              </a:defRPr>
            </a:pPr>
            <a:r>
              <a:t>Tính năng trên Web App:</a:t>
            </a:r>
          </a:p>
          <a:p>
            <a:pPr>
              <a:spcAft>
                <a:spcPts val="800"/>
              </a:spcAft>
              <a:defRPr sz="1300">
                <a:solidFill>
                  <a:srgbClr val="141821"/>
                </a:solidFill>
              </a:defRPr>
            </a:pPr>
            <a:r>
              <a:t>• Giao diện tối giản: Nền sáng, font chữ Inter rõ ràng, dùng tốt trên cả điện thoại và máy tính.</a:t>
            </a:r>
          </a:p>
          <a:p>
            <a:pPr>
              <a:spcAft>
                <a:spcPts val="800"/>
              </a:spcAft>
              <a:defRPr sz="1300">
                <a:solidFill>
                  <a:srgbClr val="141821"/>
                </a:solidFill>
              </a:defRPr>
            </a:pPr>
            <a:r>
              <a:t>• Bảng điều khiển: Bấm nút mở khóa từ xa, xem trạng thái cửa và màn hình LCD 16x2 ảo theo thời gian thực.</a:t>
            </a:r>
          </a:p>
          <a:p>
            <a:pPr>
              <a:spcAft>
                <a:spcPts val="800"/>
              </a:spcAft>
              <a:defRPr sz="1300">
                <a:solidFill>
                  <a:srgbClr val="141821"/>
                </a:solidFill>
              </a:defRPr>
            </a:pPr>
            <a:r>
              <a:t>• Nhật ký ra vào: Ghi nhận giờ, phương thức (Vân tay/RFID/PIN) và kết quả mở cửa; hỗ trợ xuất file CSV.</a:t>
            </a:r>
          </a:p>
          <a:p>
            <a:pPr>
              <a:spcAft>
                <a:spcPts val="800"/>
              </a:spcAft>
              <a:defRPr sz="1300">
                <a:solidFill>
                  <a:srgbClr val="141821"/>
                </a:solidFill>
              </a:defRPr>
            </a:pPr>
            <a:r>
              <a:t>• Cấu hình hệ thống: Đổi mật khẩu Keypad, chỉnh chế độ 1 lớp / 2 lớp.</a:t>
            </a:r>
          </a:p>
          <a:p>
            <a:pPr>
              <a:spcAft>
                <a:spcPts val="800"/>
              </a:spcAft>
              <a:defRPr sz="1300">
                <a:solidFill>
                  <a:srgbClr val="141821"/>
                </a:solidFill>
              </a:defRPr>
            </a:pPr>
            <a:r>
              <a:t>• Đã deploy Vercel: Có đường link online để thầy cô và nhóm test thử mọi lúc.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E52A0"/>
                </a:solidFill>
                <a:latin typeface="Arial"/>
              </a:defRPr>
            </a:pPr>
            <a:r>
              <a:t>BÁO CÁO GIỮA KỲ — ĐỒ ÁN CƠ ĐIỆN TỬ (NHÓM 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>
                <a:solidFill>
                  <a:srgbClr val="141821"/>
                </a:solidFill>
                <a:latin typeface="Arial"/>
              </a:defRPr>
            </a:pPr>
            <a:r>
              <a:t>7. Tổng kết tiến độ giữa kỳ &amp; Kế hoạch 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6E7D"/>
                </a:solidFill>
                <a:latin typeface="Arial"/>
              </a:defRPr>
            </a:pPr>
            <a:r>
              <a:t>Đề tài Cửa bảo mật — Nguyễn Tuấn Sơn, Vũ Hữu Hoạt (UET)                                                                     Trang 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52A0"/>
                </a:solidFill>
              </a:defRPr>
            </a:pPr>
            <a:r>
              <a:t>Kết quả đạt được (Giai đoạn 1 &amp; 2):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✔ Linh kiện: Đã mua đủ 100% linh kiện chính và phụ kiện (AS608, RC522, Keypad 4x4, LCD I2C, ESP32, Khóa 12V).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✔ Nghiên cứu kỹ thuật: Hiểu rõ datasheet các module, giao thức UART/SPI/I2C và cách quét phím ma trận.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✔ Phần cứng: Hoàn thành sơ đồ nguyên lý và layout PCB 2 lớp, đã đo chuẩn chân cắm linh kiện.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✔ Phần mềm: Hoàn thành code ESP32 Non-blocking, làm xong Web App quản lý có bảo mật 2 lớp và đưa lên Vercel.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52A0"/>
                </a:solidFill>
              </a:defRPr>
            </a:pPr>
            <a:r>
              <a:t>Kế hoạch nửa cuối học kỳ (Giai đoạn 3 &amp; 4):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➔ Gia công mạch in: Nhận bo mạch PCB, hàn linh kiện và đo kiểm tra các mức điện áp nguồn (12V, 5V, 3.3V).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➔ Lắp ráp cơ khí: Làm khung mô hình cửa gỗ/mica, gắn khóa chốt 12V, cảm biến vân tay, thẻ từ và bàn phím.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➔ Ghép nối &amp; Thử nghiệm: Nạp code lên mạch thật, kiểm tra độ nhạy quét thẻ/vân tay và thời gian đáp ứng mở cửa.</a:t>
            </a:r>
          </a:p>
          <a:p>
            <a:pPr>
              <a:spcAft>
                <a:spcPts val="1000"/>
              </a:spcAft>
              <a:defRPr sz="1350">
                <a:solidFill>
                  <a:srgbClr val="141821"/>
                </a:solidFill>
              </a:defRPr>
            </a:pPr>
            <a:r>
              <a:t>➔ Hoàn thiện báo cáo: Thu thập số liệu thực nghiệm và viết cuốn báo cáo đồ án Cơ Điện Tử hoàn chỉnh.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